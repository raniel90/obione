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1" r:id="rId12"/>
    <p:sldId id="263" r:id="rId14"/>
    <p:sldId id="265" r:id="rId16"/>
    <p:sldId id="264" r:id="rId15"/>
    <p:sldId id="268" r:id="rId19"/>
    <p:sldId id="269" r:id="rId20"/>
    <p:sldId id="270" r:id="rId21"/>
    <p:sldId id="273" r:id="rId24"/>
    <p:sldId id="274" r:id="rId25"/>
    <p:sldId id="272" r:id="rId23"/>
    <p:sldId id="266" r:id="rId17"/>
    <p:sldId id="275" r:id="rId26"/>
    <p:sldId id="276" r:id="rId27"/>
    <p:sldId id="271" r:id="rId22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14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7.xml"/><Relationship Id="rId23" Type="http://schemas.openxmlformats.org/officeDocument/2006/relationships/slide" Target="slides/slide13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{{CONTEXTO}}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3A6B"/>
                </a:solidFill>
                <a:latin typeface="Arial"/>
              </a:rPr>
              <a:t>Agentes Conversacionais baseados em LLM
para o Framework de Mineração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{{SUBTITULO}}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{{ROTULO_AUTOR}}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Raniel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Orientador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Prof. Dr. Alexandre Maciel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{{PROGRAMA_LONGO}}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{{INSTITUICAO_LONGA}}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Recife, {{DATA}}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{{ROTULO_AGENDA}}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{{AGENDA_1}}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{{AGENDA_1_SUB}}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{{AGENDA_2_SUB}}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{{AGENDA_3_SUB}}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{{AGENDA_4_SUB}}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Duração estimada: {{DURACAO}}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Por que essa pesquisa?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Dados industriais subutilizados</a:t>
            </a:r>
          </a:p>
          <a:p>
            <a:pPr algn="l"/>
            <a:r>
              <a:rPr sz="800" b="0" i="0">
                <a:solidFill>
                  <a:srgbClr val="2C2C3E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O FMD (Framework de Mineração de Dados; Maciel et al.) define 7 camadas: coleta, governança, AutoML, visualização, deploy, arquitetura e validação.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Hoje, cada camada exige especialista técnico. Engenheiros de chão de fábrica não acessam dados de produção sem ajuda da TI.</a:t>
            </a:r>
          </a:p>
          <a:p>
            <a:pPr algn="l"/>
            <a:r>
              <a:rPr sz="1300" b="0" i="1">
                <a:solidFill>
                  <a:srgbClr val="2C2C3E"/>
                </a:solidFill>
                <a:latin typeface="Arial"/>
              </a:rPr>
              <a:t>Resultado: dados existem, mas decisões não são informadas por eles.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A LACUNA NA LITERATURA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Evidência da nossa RSL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30 / 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0480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papers cobrem apenas a camada Coleta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32918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as 6 outras camadas estão sub-representadas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1 / 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0" y="37338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paper testou em contexto automotivo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9776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manuais do Ford Fiesta (não dados de produção)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891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−53%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0000" y="44196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queda relativa de precisão NL2SQL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000" y="46634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86,6% no Spider → 41% no banco real Petrobras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B"/>
                </a:solidFill>
                <a:latin typeface="Arial"/>
              </a:rPr>
              <a:t>Objetivo da tese: framework multi-agente para o FMD, validado em planta automotiva real (Stellantis).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0" y="35205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Síntese cruzada dos 38 papers da RSL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0" y="42063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Medeiros et al. (2023) · LLM chatbot Ford Fiesta · MDPI Vehicles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48921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Gao et al. (2024) · Nascimento et al. (2025)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Protocolo PRISMA: como chegamos aos 38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4572000" cy="9144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IDENTIFICAÇÃO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509 registros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Scopus · IEEE · ACM · CAPES/CAFe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4572000" cy="9144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TRIAGEM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Triagem por título/abstract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Keywords + exclusão por domínio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40480"/>
            <a:ext cx="4572000" cy="9144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ELEGIBILIDADE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Leitura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Critérios I/E + leitura completa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46320"/>
            <a:ext cx="4572000" cy="9144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INCLUSÃO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38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Síntese qualitativa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1828800"/>
            <a:ext cx="6172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5 FASES DE BUSCA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2133600"/>
            <a:ext cx="6172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Estratégia incremental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2514600"/>
            <a:ext cx="457200" cy="24384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15000" y="2743200"/>
            <a:ext cx="6172200" cy="6096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5000" y="2834640"/>
            <a:ext cx="2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Bases indexadas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306324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Scopus · IEEE · ACM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15000" y="2880360"/>
            <a:ext cx="80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0261E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5000" y="3291840"/>
            <a:ext cx="6172200" cy="6096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0" y="3383280"/>
            <a:ext cx="2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Snowballing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0" y="361188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Forward + backward (Semantic Scholar)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15000" y="3429000"/>
            <a:ext cx="80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0261E"/>
                </a:solidFill>
                <a:latin typeface="Arial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3840480"/>
            <a:ext cx="6172200" cy="6096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15000" y="3931920"/>
            <a:ext cx="2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Busca dirigida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416052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Para gap NL2VIS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5000" y="3977640"/>
            <a:ext cx="80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0261E"/>
                </a:solidFill>
                <a:latin typeface="Arial"/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15000" y="4389120"/>
            <a:ext cx="6172200" cy="6096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15000" y="4480560"/>
            <a:ext cx="2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Portal CAPES/CAFe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0" y="470916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Elsevier · Springer · Wiley · MDPI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15000" y="4526280"/>
            <a:ext cx="80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0261E"/>
                </a:solidFill>
                <a:latin typeface="Arial"/>
              </a:rPr>
              <a:t>17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15000" y="4937760"/>
            <a:ext cx="6172200" cy="6096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15000" y="5029200"/>
            <a:ext cx="2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Reclassificação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15000" y="5257800"/>
            <a:ext cx="4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Revisão manual final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15000" y="5074920"/>
            <a:ext cx="80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E0261E"/>
                </a:solidFill>
                <a:latin typeface="Arial"/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15000" y="5486400"/>
            <a:ext cx="6172200" cy="24384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15000" y="5577840"/>
            <a:ext cx="4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6B"/>
                </a:solidFill>
                <a:latin typeface="Arial"/>
              </a:rPr>
              <a:t>TOTAL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15000" y="5547360"/>
            <a:ext cx="8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E0261E"/>
                </a:solidFill>
                <a:latin typeface="Arial"/>
              </a:rPr>
              <a:t>38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" y="6080760"/>
            <a:ext cx="4572000" cy="2743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" y="6110000"/>
            <a:ext cx="4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RIGOR: PRISMA 2020 [Page et al., 2021]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Cobertura das 7 camadas do FMD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87452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10312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NL2SQL, NL2Cypher, NL2SPARQL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0000" y="1920240"/>
            <a:ext cx="72000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1440" y="192024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30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242316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Arquitetura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" y="265176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Multi-agente, orquestração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0000" y="2468880"/>
            <a:ext cx="28800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1440" y="246888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12 papers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1752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000" y="29718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32004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Industrial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000" y="3017520"/>
            <a:ext cx="21600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1440" y="301752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9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" y="352044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Visualização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000" y="374904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NL2VIS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0000" y="3566160"/>
            <a:ext cx="1200000" cy="304800"/>
          </a:xfrm>
          <a:prstGeom prst="rect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1440" y="356616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69A29"/>
                </a:solidFill>
                <a:latin typeface="Arial"/>
              </a:rPr>
              <a:t>5 papers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1480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000" y="406908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000" y="429768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Monitoramento de modelos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00000" y="4114800"/>
            <a:ext cx="960000" cy="304800"/>
          </a:xfrm>
          <a:prstGeom prst="rect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440" y="411480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69A29"/>
                </a:solidFill>
                <a:latin typeface="Arial"/>
              </a:rPr>
              <a:t>4 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66344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000" y="461772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Governança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000" y="484632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LGPD/GDPR, PII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00000" y="4663440"/>
            <a:ext cx="240000" cy="304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1440" y="466344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0261E"/>
                </a:solidFill>
                <a:latin typeface="Arial"/>
              </a:rPr>
              <a:t>1 papers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12080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0261E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000" y="516636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6B"/>
                </a:solidFill>
                <a:latin typeface="Arial"/>
              </a:rPr>
              <a:t>AutoML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000" y="539496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Arial"/>
              </a:rPr>
              <a:t>Seleção de modelo, otimização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00000" y="5212080"/>
            <a:ext cx="240000" cy="304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31440" y="521208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0261E"/>
                </a:solidFill>
                <a:latin typeface="Arial"/>
              </a:rPr>
              <a:t>1 papers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4A4A5A"/>
                </a:solidFill>
                <a:latin typeface="Arial"/>
              </a:rPr>
              <a:t>A literatura cobre bem a entrada do pipeline (Coleta).  Governança e AutoML são os maiores gaps.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Base de evidências da RSL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papers incluídos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Score médio: 6,0 / 8,0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08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de alta qualidade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74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Score ≥ 6,5 · PVLDB, ACL, ICML, TACL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828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828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057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08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com elementos agênticos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74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13 estritos + 4 parciais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14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114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com validação industrial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Petrobras, Siemens, CNC, smart 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114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114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343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394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com código aberto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760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Reprodutibilidade verificável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411480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58200" y="4114800"/>
            <a:ext cx="3657600" cy="60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343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1F3A6B"/>
                </a:solidFill>
                <a:latin typeface="Arial"/>
              </a:rPr>
              <a:t>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39496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Arial"/>
              </a:rPr>
              <a:t>usam GPT-4 / GPT-4o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760720"/>
            <a:ext cx="3200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Oportunidade: LLMs open-source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6B7A"/>
                </a:solidFill>
                <a:latin typeface="Arial"/>
              </a:rPr>
              <a:t>Fonte: análise das 38 avaliações individuais e síntese cruzada da RSL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Cinco lacunas identificadas na literatura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Governança e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Nenhum paper dedicado a conformidade LGPD/GDPR ou monitoramento de modelos em produção com interface conversacional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Integração entre camadas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Nenhum framework cobre as 7 camadas de forma unificada. O máximo encontrado foi 5/7 camadas em um único trabalho (Keskin et al., 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Benchmark vs. realidade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Performance cai drasticamente em bancos reais: 86,6% no Spider → 41% no banco industrial da Petrobras (46 pontos · Gao et al., 2024 · Nascimento et al.,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Pipeline vs. agentes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55% dos papers usam pipelines fixos sem capacidade de planejamento, memória ou uso de ferramentas externas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Validação automotiva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Apenas 1 de 38 papers testou em contexto automotivo (manuais do Ford Fiesta · Medeiros et al., 2023), escopo muito limitado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Cinco questões de pesquisa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1645920"/>
            <a:ext cx="112776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" y="169164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1691640"/>
            <a:ext cx="6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Questão de Pesquisa + Sub-questão específica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0000" y="16916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Gaps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00000" y="16916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Viabilidade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00000" y="16916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Tipo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1950720"/>
            <a:ext cx="1127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" y="222504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261E"/>
                </a:solidFill>
                <a:latin typeface="Arial"/>
              </a:rPr>
              <a:t>RQ1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208788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2C3E"/>
                </a:solidFill>
                <a:latin typeface="Arial"/>
              </a:rPr>
              <a:t>Como projetar arquitetura multi-agente que integre as 7 camadas do FMD?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236220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→ Qual padrão de orquestração (conductor, blackboard, ReAct) escala para 7 agentes especializados?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0000" y="22250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G2, G4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00000" y="22250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A05C"/>
                </a:solidFill>
                <a:latin typeface="Arial"/>
              </a:rPr>
              <a:t>Alta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00000" y="22250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5A"/>
                </a:solidFill>
                <a:latin typeface="Arial"/>
              </a:rPr>
              <a:t>estrutural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2773680"/>
            <a:ext cx="11277600" cy="8229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" y="304800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261E"/>
                </a:solidFill>
                <a:latin typeface="Arial"/>
              </a:rPr>
              <a:t>RQ2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291084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2C3E"/>
                </a:solidFill>
                <a:latin typeface="Arial"/>
              </a:rPr>
              <a:t>Como adaptar NL2SQL para bancos automotivos reais (ERP/MES/SCADA)?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318516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→ Qual estratégia de schema linking funciona em schemas com &gt;100 tabelas e nomenclatura SAP/IATF?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0000" y="3048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G3, G5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0000" y="3048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9A29"/>
                </a:solidFill>
                <a:latin typeface="Arial"/>
              </a:rPr>
              <a:t>Média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00000" y="3048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5A"/>
                </a:solidFill>
                <a:latin typeface="Arial"/>
              </a:rPr>
              <a:t>técnica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" y="3596640"/>
            <a:ext cx="1127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" y="387096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261E"/>
                </a:solidFill>
                <a:latin typeface="Arial"/>
              </a:rPr>
              <a:t>RQ3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00200" y="373380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2C3E"/>
                </a:solidFill>
                <a:latin typeface="Arial"/>
              </a:rPr>
              <a:t>Como automatizar governança LGPD/GDPR via agente conversacional?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0200" y="400812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→ Como detectar PII em queries SQL antes da execução, com auditoria conversacional?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00000" y="387096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G1, G2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0000" y="387096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9A29"/>
                </a:solidFill>
                <a:latin typeface="Arial"/>
              </a:rPr>
              <a:t>Média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00000" y="387096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5A"/>
                </a:solidFill>
                <a:latin typeface="Arial"/>
              </a:rPr>
              <a:t>técnica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" y="4419600"/>
            <a:ext cx="11277600" cy="8229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100" y="469392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261E"/>
                </a:solidFill>
                <a:latin typeface="Arial"/>
              </a:rPr>
              <a:t>RQ4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00200" y="455676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2C3E"/>
                </a:solidFill>
                <a:latin typeface="Arial"/>
              </a:rPr>
              <a:t>Qual o impacto do framework em planta automotiva real (Stellantis)?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00200" y="483108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→ Operadores não-técnicos conseguem extrair insight via NL? (SUS &gt; 70, tempo de busca −50%)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00000" y="469392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G5, G3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00000" y="469392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A05C"/>
                </a:solidFill>
                <a:latin typeface="Arial"/>
              </a:rPr>
              <a:t>Alta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00000" y="469392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5A"/>
                </a:solidFill>
                <a:latin typeface="Arial"/>
              </a:rPr>
              <a:t>validação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5800" y="5242560"/>
            <a:ext cx="1127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0100" y="551688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261E"/>
                </a:solidFill>
                <a:latin typeface="Arial"/>
              </a:rPr>
              <a:t>RQ5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00200" y="537972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2C3E"/>
                </a:solidFill>
                <a:latin typeface="Arial"/>
              </a:rPr>
              <a:t>Como integrar AutoML e visualização em pipeline conversacional?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00200" y="565404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→ Como traduzir feature importance para linguagem acessível ao chão de fábrica?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00000" y="551688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G2, G1, G5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0000" y="551688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69A29"/>
                </a:solidFill>
                <a:latin typeface="Arial"/>
              </a:rPr>
              <a:t>Média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00000" y="551688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A5A"/>
                </a:solidFill>
                <a:latin typeface="Arial"/>
              </a:rPr>
              <a:t>técnica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608076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7A"/>
                </a:solidFill>
                <a:latin typeface="Arial"/>
              </a:rPr>
              <a:t>G1 Governança+Deploy · G2 Integração 7 camadas · G3 Benchmark vs realidade · G4 Pipeline vs agentes · G5 Validação automotiva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Framework FMD-Agent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554480"/>
            <a:ext cx="7620000" cy="4572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Usuário (linguagem natural) · Chat ·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03120"/>
            <a:ext cx="7620000" cy="685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AGENTE ORQUESTRADOR · CAMADA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2316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Roteia requisições · Gerencia contexto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Coletor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NL2SQL
NL2Cypher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0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0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0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Governança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LGPD/GDPR
PII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5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5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AutoML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Seleção
Otimização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Visualizador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NL2VIS
Explicab.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05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5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5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MQTT
Drift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10800" y="29718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10800" y="2971800"/>
            <a:ext cx="1828800" cy="457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080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C7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0800" y="3322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3A6B"/>
                </a:solidFill>
                <a:latin typeface="Arial"/>
              </a:rPr>
              <a:t>Validador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10800" y="3611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A4A5A"/>
                </a:solidFill>
                <a:latin typeface="Arial"/>
              </a:rPr>
              <a:t>Métricas
IATF 16949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435476"/>
            <a:ext cx="11277600" cy="4572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435476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C2C3E"/>
                </a:solidFill>
                <a:latin typeface="Arial"/>
              </a:rPr>
              <a:t>Infraestrutura · LanceDB · BGE embeddings · Memória compartilhada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98348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74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BASE DE CONHECIMENTO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2C3E"/>
                </a:solidFill>
                <a:latin typeface="Arial"/>
              </a:rPr>
              <a:t>LGPD/GDPR · IATF 16949 · Terminologia automotiva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98348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074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0261E"/>
                </a:solidFill>
                <a:latin typeface="Arial"/>
              </a:rPr>
              <a:t>SISTEMAS INDUSTRIAIS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394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2C3E"/>
                </a:solidFill>
                <a:latin typeface="Arial"/>
              </a:rPr>
              <a:t>ERP/SAP · MES · SCADA · QMS  ·  via MQTT / SQL /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Plano de execução em três fases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6–8 meses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Orquestrador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Coletor (NL2SQL)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Visualizador (NL2VIS)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Técnicas mais maduras na literatura (30 papers).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Artigo em conferência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052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05200" y="1554480"/>
            <a:ext cx="2667000" cy="685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880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0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Contribuição original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880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880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6–8 meses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880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0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Governança (LGPD)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880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AutoML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880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880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Ataca os gaps onde não há publicações dedicadas.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880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880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880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Artigo em journal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46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246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074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FASE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074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Validação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074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074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8–10 meses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074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74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Deploy + Validador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74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Estudo de caso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074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Stellantis (planta automotiva)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074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074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Aproveita parceria institucional do grupo.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074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074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074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Capítulos da tese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0" y="1554480"/>
            <a:ext cx="2667000" cy="6858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268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ESCRITA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Tese e defesa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68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68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4–6 meses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268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268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Redação Cap. 3-7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Revisão por orientador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Defesa pública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68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Buffer para correções e ajustes pós-banca.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268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68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268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Tese defendida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5577840"/>
            <a:ext cx="6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Total: 24–32 meses (deadline: dezembro 2028 = 32 meses)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000000" y="5577840"/>
            <a:ext cx="4963600" cy="777240"/>
          </a:xfrm>
          <a:prstGeom prst="rect">
            <a:avLst/>
          </a:prstGeom>
          <a:solidFill>
            <a:srgbClr val="F4F4F6"/>
          </a:solidFill>
          <a:ln w="19050">
            <a:solidFill>
              <a:srgbClr val="E69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00000" y="5577840"/>
            <a:ext cx="91440" cy="777240"/>
          </a:xfrm>
          <a:prstGeom prst="rect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200000" y="5623560"/>
            <a:ext cx="47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Arial"/>
              </a:rPr>
              <a:t>PLANO B (FASE 3)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00000" y="5852160"/>
            <a:ext cx="47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Arial"/>
              </a:rPr>
              <a:t>Caso a parceria Stellantis não formalize: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00000" y="6080760"/>
            <a:ext cx="47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Migrar para outra montadora regional ou planta de fornecedor (Tier 1) automotivo via grupo de pesquisa.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Decisões e posicionamentos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486400" cy="762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A05C"/>
                </a:solidFill>
                <a:latin typeface="Arial"/>
              </a:rPr>
              <a:t>JÁ ESTOU FAZENDO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Independente de aprovação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Capítulo 2 da tese (RSL)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Todos os dados estão consolidados em formato estruturado.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Submissão do artigo da RSL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Target: IEEE Access (preferência por Qualis maior se viável).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Implementação do MVP (Fase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Orquestrador + Coletor + Visualizador.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5486400" cy="762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POSIÇÕES QUE DEFENDO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Quero confirmação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Manter as 5 RQs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 FMD é integrado por design. RQ1 é estrutural; RQ2/RQ3/RQ5 são técnicas; RQ4 é validação unificadora.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RQ4 com a Stellantis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Aproveitar a relação institucional do grupo de pesquisa para a Fase 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RSL fechada com 38 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Saturação temática atingida. Fechar Capítulo 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Discussão e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Arial"/>
              </a:rPr>
              <a:t>Documentação completa disponível no repositório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Resultados da RSL  ·  Framework FMD-Agent  ·  Worklog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{{AUTOR}}  ·  {{PROGRAMA}}  ·  {{INSTITUICAO}}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Orientador: {{ORIENTADOR}}  ·  Recife, {{DATA}}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3200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E0261E"/>
                </a:solidFill>
                <a:latin typeface="Arial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057400"/>
            <a:ext cx="36576" cy="1828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86200" y="2057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2286000"/>
            <a:ext cx="8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F3A6B"/>
                </a:solidFill>
                <a:latin typeface="Arial"/>
              </a:rPr>
              <a:t>Apêndice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3200400"/>
            <a:ext cx="8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A4A5A"/>
                </a:solidFill>
                <a:latin typeface="Arial"/>
              </a:rPr>
              <a:t>Material de suporte para discussão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Ameaças à validade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7A"/>
                </a:solidFill>
                <a:latin typeface="Arial"/>
              </a:rPr>
              <a:t>Framework de Wohlin et al. (2012): quatro dimensões com mitigações documentadas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486400" cy="1965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91440" cy="1965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78800"/>
            <a:ext cx="508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6B"/>
                </a:solidFill>
                <a:latin typeface="Arial"/>
              </a:rPr>
              <a:t>Validade Interna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Ameaça: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Keywords iniciais genéricas (LLM, agent, data) capturaram papers fora do escopo, exigindo triagem cuidadosa.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4800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05C"/>
                </a:solidFill>
                <a:latin typeface="Arial"/>
              </a:rPr>
              <a:t>Mitigação: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660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Revisão manual completa dos 49 candidatos (leitura integral, PDF até 20 páginas).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486400" cy="1965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965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78800"/>
            <a:ext cx="508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6B"/>
                </a:solidFill>
                <a:latin typeface="Arial"/>
              </a:rPr>
              <a:t>Validade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8600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Ameaça: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Predominância de NL2SQL (79% dos papers) pode super-representar a Camada Coleta e subestimar outras camadas do FMD.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4800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05C"/>
                </a:solidFill>
                <a:latin typeface="Arial"/>
              </a:rPr>
              <a:t>Mitigação: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27660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Buscas dirigidas para gaps; CAPES/CAFe ampliou diversidade; reclassificação E3 adicionou validação industrial.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23360"/>
            <a:ext cx="5486400" cy="1965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23360"/>
            <a:ext cx="91440" cy="1965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73360"/>
            <a:ext cx="508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6B"/>
                </a:solidFill>
                <a:latin typeface="Arial"/>
              </a:rPr>
              <a:t>Validade de Construto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Ameaça: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Avaliador único (doutorando), com possível viés sistemático na atribuição de scores.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256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05C"/>
                </a:solidFill>
                <a:latin typeface="Arial"/>
              </a:rPr>
              <a:t>Mitigação: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7116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Evidências auditáveis em formato estruturado; orientador revisou amostra.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23360"/>
            <a:ext cx="5486400" cy="1965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91440" cy="1965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73360"/>
            <a:ext cx="508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6B"/>
                </a:solidFill>
                <a:latin typeface="Arial"/>
              </a:rPr>
              <a:t>Validade de Conclusão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8056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Ameaça: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70916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n=38 é amostra relativamente pequena para generalização ampla sobre o estado da arte.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242560"/>
            <a:ext cx="50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A05C"/>
                </a:solidFill>
                <a:latin typeface="Arial"/>
              </a:rPr>
              <a:t>Mitigação: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471160"/>
            <a:ext cx="50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Saturação temática atingida. Fases 4-5 e 8b confirmaram gaps sem alterar conclusões qualitativas.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Diferenciador da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6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COMPARAÇÃO COM OS TRABALHOS MAIS PRÓXIMOS DA LITERATURA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7000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87452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0" y="187452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Camadas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0000" y="187452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Validação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187452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33600"/>
            <a:ext cx="670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220980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Keskin et al. 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22098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2C3E"/>
                </a:solidFill>
                <a:latin typeface="Arial"/>
              </a:rPr>
              <a:t>5/7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000" y="220980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C2C3E"/>
                </a:solidFill>
                <a:latin typeface="Arial"/>
              </a:rPr>
              <a:t>Manufatura (LangGraph)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0000" y="220980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C2C3E"/>
                </a:solidFill>
                <a:latin typeface="Arial"/>
              </a:rPr>
              <a:t>4,5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499360"/>
            <a:ext cx="670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257556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Kalyuzhnaya et al.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57556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2C3E"/>
                </a:solidFill>
                <a:latin typeface="Arial"/>
              </a:rPr>
              <a:t>3/7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0000" y="257556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C2C3E"/>
                </a:solidFill>
                <a:latin typeface="Arial"/>
              </a:rPr>
              <a:t>Smart city (St. Petersburg)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0000" y="257556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C2C3E"/>
                </a:solidFill>
                <a:latin typeface="Arial"/>
              </a:rPr>
              <a:t>7,5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865120"/>
            <a:ext cx="670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" y="294132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Trirat et al.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294132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2C3E"/>
                </a:solidFill>
                <a:latin typeface="Arial"/>
              </a:rPr>
              <a:t>3/7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0000" y="294132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C2C3E"/>
                </a:solidFill>
                <a:latin typeface="Arial"/>
              </a:rPr>
              <a:t>Benchmarks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000" y="294132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C2C3E"/>
                </a:solidFill>
                <a:latin typeface="Arial"/>
              </a:rPr>
              <a:t>7,5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230880"/>
            <a:ext cx="670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" y="330708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Gautam et al. (2025)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000" y="330708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2C3E"/>
                </a:solidFill>
                <a:latin typeface="Arial"/>
              </a:rPr>
              <a:t>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0000" y="330708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C2C3E"/>
                </a:solidFill>
                <a:latin typeface="Arial"/>
              </a:rPr>
              <a:t>IIoT digital twin (laboratório)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000" y="330708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C2C3E"/>
                </a:solidFill>
                <a:latin typeface="Arial"/>
              </a:rPr>
              <a:t>4,5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596640"/>
            <a:ext cx="6700000" cy="365760"/>
          </a:xfrm>
          <a:prstGeom prst="rect">
            <a:avLst/>
          </a:prstGeom>
          <a:solidFill>
            <a:srgbClr val="E0261E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" y="367284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FFFFFF"/>
                </a:solidFill>
                <a:latin typeface="Arial"/>
              </a:rPr>
              <a:t>FMD-Agent (proposta)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0000" y="367284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7/7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0000" y="367284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Stellantis (planta automotiva real)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000" y="367284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191000"/>
            <a:ext cx="67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1F3A6B"/>
                </a:solidFill>
                <a:latin typeface="Arial"/>
              </a:rPr>
              <a:t>FMD-Agent é o único framework com cobertura das 7 camadas e validação automotiva real planejada.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0000" y="1554480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EXEMPLO DE FLUXO CONVERSACIONAL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00000" y="1828800"/>
            <a:ext cx="4191000" cy="54864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7160" y="1920240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OPERADOR (LINGUAGEM NATURAL)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7160" y="2103120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Arial"/>
              </a:rPr>
              <a:t>"Quais paradas de linha tivemos nas últimas 4h?"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0" y="2416800"/>
            <a:ext cx="419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0261E"/>
                </a:solidFill>
                <a:latin typeface="Arial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0000" y="2697480"/>
            <a:ext cx="4191000" cy="3657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00000" y="2697480"/>
            <a:ext cx="60960" cy="3657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7160" y="272796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6B"/>
                </a:solidFill>
                <a:latin typeface="Arial"/>
              </a:rPr>
              <a:t>Orquestrador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7160" y="2910840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4A5A"/>
                </a:solidFill>
                <a:latin typeface="Arial"/>
              </a:rPr>
              <a:t>Decompõe → roteia para Coletor + Validador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00000" y="3107944"/>
            <a:ext cx="4191000" cy="3657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00000" y="3107944"/>
            <a:ext cx="60960" cy="3657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37160" y="3138424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6B"/>
                </a:solidFill>
                <a:latin typeface="Arial"/>
              </a:rPr>
              <a:t>Coletor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37160" y="3321304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4A5A"/>
                </a:solidFill>
                <a:latin typeface="Arial"/>
              </a:rPr>
              <a:t>NL2SQL no MES → consulta tabela de paradas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00000" y="3518408"/>
            <a:ext cx="4191000" cy="3657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00000" y="3518408"/>
            <a:ext cx="60960" cy="3657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37160" y="3548888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6B"/>
                </a:solidFill>
                <a:latin typeface="Arial"/>
              </a:rPr>
              <a:t>Governança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7160" y="3731768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4A5A"/>
                </a:solidFill>
                <a:latin typeface="Arial"/>
              </a:rPr>
              <a:t>Verifica permissões do operador (RBAC + LGPD)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00000" y="3928872"/>
            <a:ext cx="4191000" cy="3657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00000" y="3928872"/>
            <a:ext cx="60960" cy="3657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7160" y="3959352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6B"/>
                </a:solidFill>
                <a:latin typeface="Arial"/>
              </a:rPr>
              <a:t>Visualizador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7160" y="4142232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4A5A"/>
                </a:solidFill>
                <a:latin typeface="Arial"/>
              </a:rPr>
              <a:t>Gera gráfico de Pareto de causas + tabela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00000" y="4339336"/>
            <a:ext cx="4191000" cy="36576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00000" y="4339336"/>
            <a:ext cx="60960" cy="3657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7160" y="4369816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3A6B"/>
                </a:solidFill>
                <a:latin typeface="Arial"/>
              </a:rPr>
              <a:t>Validador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7160" y="4552696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4A5A"/>
                </a:solidFill>
                <a:latin typeface="Arial"/>
              </a:rPr>
              <a:t>Valida métricas vs IATF 16949 (registro)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00000" y="4780280"/>
            <a:ext cx="4191000" cy="4572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37160" y="4871720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RESPOSTA AO USUÁRIO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7160" y="5008880"/>
            <a:ext cx="4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Arial"/>
              </a:rPr>
              <a:t>Gráfico + tabela + log de auditoria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Métricas de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1277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COMO MEDIR QUE CADA RQ FOI RESPONDIDA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12776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1874520"/>
            <a:ext cx="8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187452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Métrica primária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0000" y="187452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Métrica secundária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000" y="1874520"/>
            <a:ext cx="3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Valor-alvo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33600"/>
            <a:ext cx="1127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236220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261E"/>
                </a:solidFill>
                <a:latin typeface="Arial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23622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Cobertura das 7 camadas FMD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000" y="23622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Latência inter-agente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000" y="2362200"/>
            <a:ext cx="3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7/7 camadas / &lt; 2s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65120"/>
            <a:ext cx="11277600" cy="73152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09372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261E"/>
                </a:solidFill>
                <a:latin typeface="Arial"/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000" y="309372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Execution Accuracy NL2SQL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0000" y="309372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Recall em schemas &gt;100 tabelas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0000" y="3093720"/>
            <a:ext cx="3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≥ 70% EX / ≥ 0,80 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96640"/>
            <a:ext cx="1127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" y="382524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261E"/>
                </a:solidFill>
                <a:latin typeface="Arial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000" y="382524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Detecção de PII (precision/recall)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0000" y="382524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Taxa de auditoria LGPD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0000" y="3825240"/>
            <a:ext cx="3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P,R &gt; 0,90 / 100%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28160"/>
            <a:ext cx="11277600" cy="73152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" y="455676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261E"/>
                </a:solidFill>
                <a:latin typeface="Arial"/>
              </a:rPr>
              <a:t>RQ4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000" y="455676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SUS (System Usability Scale)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0000" y="455676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Tempo de obtenção de informação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0000" y="4556760"/>
            <a:ext cx="3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SUS &gt; 70 / redução ≥ 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059680"/>
            <a:ext cx="1127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" y="5288280"/>
            <a:ext cx="8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261E"/>
                </a:solidFill>
                <a:latin typeface="Arial"/>
              </a:rPr>
              <a:t>RQ5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0000" y="528828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Pipeline end-to-end 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0000" y="528828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Qualidade NL2VIS (avaliação)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0000" y="5288280"/>
            <a:ext cx="3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&gt; 80% / SUS &gt; 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8076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7A"/>
                </a:solidFill>
                <a:latin typeface="Arial"/>
              </a:rPr>
              <a:t>Fontes: Spider [Yu et al., 2018] · BIRD [Li et al., 2023] · SUS [Brooke, 1996] · IATF 16949 [IATF, 2016] · LGPD [Brasil, Lei 13.709/2018]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PROPOSTA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Contribuições esperadas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1277600" cy="304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691640"/>
            <a:ext cx="1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000" y="1691640"/>
            <a:ext cx="8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Contribuição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0" y="169164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RQ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50720"/>
            <a:ext cx="1127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" y="2087880"/>
            <a:ext cx="1300000" cy="2743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08788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000" y="208788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Framework multi-agente integrando as 7 camadas do FMD com agentes LLM especializados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000" y="208788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99360"/>
            <a:ext cx="11277600" cy="54864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" y="2636520"/>
            <a:ext cx="1300000" cy="2743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263652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Original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0000" y="263652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Agente de governança conversacional para conformidade LGPD/GDPR em dados industriais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0000" y="263652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48000"/>
            <a:ext cx="1127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" y="3185160"/>
            <a:ext cx="1300000" cy="2743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18516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0000" y="318516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Benchmark NL2SQL para domínio automotivo (bancos ERP/MES/SCADA)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0000" y="318516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596640"/>
            <a:ext cx="11277600" cy="54864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" y="3733800"/>
            <a:ext cx="1300000" cy="27432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" y="373380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Original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0000" y="373380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Validação empírica em planta automotiva real com usuários não-técnicos (Stellantis)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0000" y="37338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145280"/>
            <a:ext cx="1127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" y="4282440"/>
            <a:ext cx="1300000" cy="2743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" y="428244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Extensão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0000" y="428244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Adaptação de NL2SQL para schemas industriais complexos (&gt;100 tabelas)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0000" y="428244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693920"/>
            <a:ext cx="11277600" cy="548640"/>
          </a:xfrm>
          <a:prstGeom prst="rect">
            <a:avLst/>
          </a:prstGeom>
          <a:solidFill>
            <a:srgbClr val="F4F4F6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" y="4831080"/>
            <a:ext cx="1300000" cy="2743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" y="483108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Extensão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00000" y="483108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Pipeline conversacional integrado: Coleta → AutoML → Visualização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0000" y="483108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42560"/>
            <a:ext cx="1127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" y="5379720"/>
            <a:ext cx="1300000" cy="27432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" y="5379720"/>
            <a:ext cx="13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Extensão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000" y="5379720"/>
            <a:ext cx="8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2C3E"/>
                </a:solidFill>
                <a:latin typeface="Arial"/>
              </a:rPr>
              <a:t>Protocolo de deploy conversacional com monitoramento via MQTT/IIoT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0000" y="537972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RQ1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DOCUMENTAÇÃO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Fontes &amp; 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486400" cy="44196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486400" cy="762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ARTEFATOS DA RSL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Documentação completa no repositório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Fluxograma PRISMA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55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Fluxograma PRISMA 2020 com todos os números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200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Resultados da RSL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81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Tabela cruzada · gaps · RQs · ameaças à validade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25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Síntese Qualitativa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06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Síntese narrativa por camada FMD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51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Metodologia da RSL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32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Protocolo da RSL (string, critérios I/E)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476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Framework FMD-Agent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5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Especificação técnica do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902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Avaliações dos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883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140 avaliações (38 incluídas · 102 excluídas)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32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Worklog da RSL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9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Log cronológico e índice mestre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5486400" cy="44196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554480"/>
            <a:ext cx="5486400" cy="762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69164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3A6B"/>
                </a:solidFill>
                <a:latin typeface="Arial"/>
              </a:rPr>
              <a:t>REFERÊNCIAS ACADÊMICAS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9659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Frameworks e padrões adotados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774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Page et al. (2021)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5755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PRISMA 2020 Statement · BMJ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7889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Wohlin et al. (2012)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870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Experimentation in Software Engineering · ameaças à validade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6118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Yu et al. (2018)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100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Spider · benchmark NL2SQL · EMNLP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0233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Li et al. (2023)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214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BIRD · NL2SQL com bancos reais · NeurIPS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4348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Brooke (1996)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6329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System Usability Scale (SUS)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8463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IATF (2016)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0444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IATF 16949 · sistema de qualidade automotiva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257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Brasil (2018)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4559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Lei Geral de Proteção de Dados (LGPD) · Lei 13.709/2018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08076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6B7A"/>
                </a:solidFill>
                <a:latin typeface="Arial"/>
              </a:rPr>
              <a:t>Os 38 papers da RSL estão listados no Fluxograma PRISMA, com identificador, score, venue e camadas FMD.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