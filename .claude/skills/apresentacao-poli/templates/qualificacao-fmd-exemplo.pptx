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4" r:id="rId15"/>
    <p:sldId id="270" r:id="rId21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5" Type="http://schemas.openxmlformats.org/officeDocument/2006/relationships/slide" Target="slides/slide7.xml"/><Relationship Id="rId21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1828800" cy="1374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{{CONTEXTO}}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90800"/>
            <a:ext cx="11000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3A6B"/>
                </a:solidFill>
                <a:latin typeface="Arial"/>
              </a:rPr>
              <a:t>Agentes Conversacionais baseados em LLM
para o Framework de Mineração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23360"/>
            <a:ext cx="11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4A4A5A"/>
                </a:solidFill>
                <a:latin typeface="Arial"/>
              </a:rPr>
              <a:t>{{SUBTITULO}}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663440"/>
            <a:ext cx="9144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{{ROTULO_AUTOR}}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6B"/>
                </a:solidFill>
                <a:latin typeface="Arial"/>
              </a:rPr>
              <a:t>Raniel Silva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86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Orientador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6B"/>
                </a:solidFill>
                <a:latin typeface="Arial"/>
              </a:rPr>
              <a:t>Prof. Dr. Alexandre Maciel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807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{{PROGRAMA_LONGO}}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{{INSTITUICAO_LONGA}}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379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7A"/>
                </a:solidFill>
                <a:latin typeface="Arial"/>
              </a:rPr>
              <a:t>Recife, {{DATA}}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{{ROTULO_AGENDA}}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745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{{AGENDA_1}}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336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{{AGENDA_1_SUB}}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{{AGENDA_2}}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19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{{AGENDA_2_SUB}}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461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{{AGENDA_3}}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052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{{AGENDA_3_SUB}}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862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319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{{AGENDA_4}}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910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{{AGENDA_4_SUB}}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71500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7A"/>
                </a:solidFill>
                <a:latin typeface="Arial"/>
              </a:rPr>
              <a:t>Duração estimada: {{DURACAO}}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MOTIVAÇÃO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Por que essa pesquisa?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5486400" cy="41148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O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3A6B"/>
                </a:solidFill>
                <a:latin typeface="Arial"/>
              </a:rPr>
              <a:t>Dados industriais subutilizados</a:t>
            </a:r>
          </a:p>
          <a:p>
            <a:pPr algn="l"/>
            <a:r>
              <a:rPr sz="800" b="0" i="0">
                <a:solidFill>
                  <a:srgbClr val="2C2C3E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C2C3E"/>
                </a:solidFill>
                <a:latin typeface="Arial"/>
              </a:rPr>
              <a:t>O FMD (Framework de Mineração de Dados; Maciel et al.) define 7 camadas: coleta, governança, AutoML, visualização, deploy, arquitetura e validação.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C2C3E"/>
                </a:solidFill>
                <a:latin typeface="Arial"/>
              </a:rPr>
              <a:t>Hoje, cada camada exige especialista técnico. Engenheiros de chão de fábrica não acessam dados de produção sem ajuda da TI.</a:t>
            </a:r>
          </a:p>
          <a:p>
            <a:pPr algn="l"/>
            <a:r>
              <a:rPr sz="1300" b="0" i="1">
                <a:solidFill>
                  <a:srgbClr val="2C2C3E"/>
                </a:solidFill>
                <a:latin typeface="Arial"/>
              </a:rPr>
              <a:t>Resultado: dados existem, mas decisões não são informadas por eles.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05740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A LACUNA NA LITERATURA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3A6B"/>
                </a:solidFill>
                <a:latin typeface="Arial"/>
              </a:rPr>
              <a:t>Evidência da nossa RSL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17520"/>
            <a:ext cx="15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0261E"/>
                </a:solidFill>
                <a:latin typeface="Arial"/>
              </a:rPr>
              <a:t>30 / 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0000" y="30480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papers cobrem apenas a camada Coleta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000" y="329184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as 6 outras camadas estão sub-representadas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03320"/>
            <a:ext cx="15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0261E"/>
                </a:solidFill>
                <a:latin typeface="Arial"/>
              </a:rPr>
              <a:t>1 / 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0000" y="37338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paper testou em contexto automotivo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0000" y="397764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manuais do Ford Fiesta (não dados de produção)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389120"/>
            <a:ext cx="15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0261E"/>
                </a:solidFill>
                <a:latin typeface="Arial"/>
              </a:rPr>
              <a:t>−53%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0000" y="44196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queda relativa de precisão NL2SQL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0000" y="466344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86,6% no Spider → 41% no banco real Petrobras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172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3A6B"/>
                </a:solidFill>
                <a:latin typeface="Arial"/>
              </a:rPr>
              <a:t>Objetivo da tese: framework multi-agente para o FMD, validado em planta automotiva real (Stellantis).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0" y="35205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6B7A"/>
                </a:solidFill>
                <a:latin typeface="Arial"/>
              </a:rPr>
              <a:t>Fonte: Síntese cruzada dos 38 papers da RSL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0" y="42063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6B7A"/>
                </a:solidFill>
                <a:latin typeface="Arial"/>
              </a:rPr>
              <a:t>Fonte: Medeiros et al. (2023) · LLM chatbot Ford Fiesta · MDPI Vehicles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0000" y="48921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6B7A"/>
                </a:solidFill>
                <a:latin typeface="Arial"/>
              </a:rPr>
              <a:t>Fonte: Gao et al. (2024) · Nascimento et al. (2025)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3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Cinco lacunas identificadas na literatura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Governança e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4028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Nenhum paper dedicado a conformidade LGPD/GDPR ou monitoramento de modelos em produção com interface conversacional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69748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78892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Integração entre camadas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0896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Nenhum framework cobre as 7 camadas de forma unificada. O máximo encontrado foi 5/7 camadas em um único trabalho (Keskin et al., 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56616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65760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Benchmark vs. realidade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7764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Performance cai drasticamente em bancos reais: 86,6% no Spider → 41% no banco industrial da Petrobras (46 pontos · Gao et al., 2024 · Nascimento et al., 2025)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43484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52628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Pipeline vs. agentes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4632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55% dos papers usam pipelines fixos sem capacidade de planejamento, memória ou uso de ferramentas externas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530352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39496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Validação automotiva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71500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Apenas 1 de 38 papers testou em contexto automotivo (manuais do Ford Fiesta · Medeiros et al., 2023), escopo muito limitado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7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PROPOSTA DE PESQUISA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Plano de execução em três fases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" y="1554480"/>
            <a:ext cx="2667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5800" y="1554480"/>
            <a:ext cx="266700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1645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FASE 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187452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MVP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23545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DURAÇÃO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260604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6–8 meses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3108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33832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Orquestrador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" y="36576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Coletor (NL2SQL)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" y="3931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Visualizador (NL2VIS)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" y="4251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JUSTIFICATIVA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4480560"/>
            <a:ext cx="2301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Técnicas mais maduras na literatura (30 papers).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" y="4983480"/>
            <a:ext cx="2301240" cy="12192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" y="50292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ENTREGÁVEL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52578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Artigo em conferência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05200" y="1554480"/>
            <a:ext cx="2667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505200" y="1554480"/>
            <a:ext cx="2667000" cy="6858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88080" y="1645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FASE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88080" y="187452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Contribuição original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88080" y="23545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DURAÇÃO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88080" y="260604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6–8 meses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88080" y="3108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88080" y="33832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Governança (LGPD)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88080" y="36576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AutoML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88080" y="4251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JUSTIFICATIVA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88080" y="4480560"/>
            <a:ext cx="2301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Ataca os gaps onde não há publicações dedicadas.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88080" y="4983480"/>
            <a:ext cx="2301240" cy="12192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88080" y="50292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ENTREGÁVEL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88080" y="52578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Artigo em journal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24600" y="1554480"/>
            <a:ext cx="2667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24600" y="1554480"/>
            <a:ext cx="266700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07480" y="1645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FASE 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07480" y="187452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Validação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07480" y="23545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DURAÇÃO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07480" y="260604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8–10 meses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07480" y="3108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07480" y="33832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Deploy + Validador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07480" y="36576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Estudo de caso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07480" y="3931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Stellantis (planta automotiva)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07480" y="4251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JUSTIFICATIVA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07480" y="4480560"/>
            <a:ext cx="2301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Aproveita parceria institucional do grupo.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07480" y="4983480"/>
            <a:ext cx="2301240" cy="12192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07480" y="50292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ENTREGÁVEL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507480" y="52578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Capítulos da tese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1554480"/>
            <a:ext cx="2667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0" y="1554480"/>
            <a:ext cx="2667000" cy="685800"/>
          </a:xfrm>
          <a:prstGeom prst="rect">
            <a:avLst/>
          </a:prstGeom>
          <a:solidFill>
            <a:srgbClr val="16A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326880" y="1645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ESCRITA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26880" y="187452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Tese e defesa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26880" y="23545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DURAÇÃO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26880" y="260604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4–6 meses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26880" y="3108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326880" y="33832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Redação Cap. 3-7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26880" y="36576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Revisão por orientador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26880" y="3931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Defesa pública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326880" y="4251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JUSTIFICATIVA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26880" y="4480560"/>
            <a:ext cx="2301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Buffer para correções e ajustes pós-banca.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326880" y="4983480"/>
            <a:ext cx="2301240" cy="12192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326880" y="50292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ENTREGÁVEL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326880" y="52578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Tese defendida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5577840"/>
            <a:ext cx="6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Total: 24–32 meses (deadline: dezembro 2028 = 32 meses)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000000" y="5577840"/>
            <a:ext cx="4963600" cy="777240"/>
          </a:xfrm>
          <a:prstGeom prst="rect">
            <a:avLst/>
          </a:prstGeom>
          <a:solidFill>
            <a:srgbClr val="F4F4F6"/>
          </a:solidFill>
          <a:ln w="19050">
            <a:solidFill>
              <a:srgbClr val="E69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000000" y="5577840"/>
            <a:ext cx="91440" cy="777240"/>
          </a:xfrm>
          <a:prstGeom prst="rect">
            <a:avLst/>
          </a:prstGeom>
          <a:solidFill>
            <a:srgbClr val="E69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200000" y="5623560"/>
            <a:ext cx="47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Arial"/>
              </a:rPr>
              <a:t>PLANO B (FASE 3)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00000" y="5852160"/>
            <a:ext cx="47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Arial"/>
              </a:rPr>
              <a:t>Caso a parceria Stellantis não formalize: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00000" y="6080760"/>
            <a:ext cx="47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Migrar para outra montadora regional ou planta de fornecedor (Tier 1) automotivo via grupo de pesquisa.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Decisões e posicionamentos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5486400" cy="76200"/>
          </a:xfrm>
          <a:prstGeom prst="rect">
            <a:avLst/>
          </a:prstGeom>
          <a:solidFill>
            <a:srgbClr val="16A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592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A05C"/>
                </a:solidFill>
                <a:latin typeface="Arial"/>
              </a:rPr>
              <a:t>JÁ ESTOU FAZENDO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Independente de aprovação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Capítulo 2 da tese (RSL)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54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Todos os dados estão consolidados em formato estruturado.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Submissão do artigo da RSL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60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Target: IEEE Access (preferência por Qualis maior se viável).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37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Implementação do MVP (Fase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66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Orquestrador + Coletor + Visualizador.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45920"/>
            <a:ext cx="5486400" cy="45720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645920"/>
            <a:ext cx="5486400" cy="762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82592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POSIÇÕES QUE DEFENDO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Quero confirmação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2608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926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Manter as 5 RQs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154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O FMD é integrado por design. RQ1 é estrutural; RQ2/RQ3/RQ5 são técnicas; RQ4 é validação unificadora.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93192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931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RQ4 com a Stellantis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160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Aproveitar a relação institucional do grupo de pesquisa para a Fase 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93776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937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RSL fechada com 38 papers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166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Saturação temática atingida. Fechar Capítulo 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100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F3A6B"/>
                </a:solidFill>
                <a:latin typeface="Arial"/>
              </a:rPr>
              <a:t>Obrigado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429000"/>
            <a:ext cx="9144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566160"/>
            <a:ext cx="11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4A5A"/>
                </a:solidFill>
                <a:latin typeface="Arial"/>
              </a:rPr>
              <a:t>Discussão e perguntas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7A"/>
                </a:solidFill>
                <a:latin typeface="Arial"/>
              </a:rPr>
              <a:t>Documentação completa disponível no repositório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9204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Arial"/>
              </a:rPr>
              <a:t>Resultados da RSL  ·  Framework FMD-Agent  ·  Worklog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807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{{AUTOR}}  ·  {{PROGRAMA}}  ·  {{INSTITUICAO}}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093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Orientador: {{ORIENTADOR}}  ·  Recife, {{DATA}}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