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75" r:id="rId14"/>
    <p:sldId id="264" r:id="rId15"/>
    <p:sldId id="276" r:id="rId13"/>
    <p:sldId id="277" r:id="rId16"/>
    <p:sldId id="278" r:id="rId17"/>
    <p:sldId id="279" r:id="rId18"/>
    <p:sldId id="270" r:id="rId21"/>
    <p:sldId id="273" r:id="rId24"/>
    <p:sldId id="274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0" Type="http://schemas.openxmlformats.org/officeDocument/2006/relationships/slide" Target="slides/slide3.xml"/><Relationship Id="rId13" Type="http://schemas.openxmlformats.org/officeDocument/2006/relationships/slide" Target="slides/slide9.xml"/><Relationship Id="rId14" Type="http://schemas.openxmlformats.org/officeDocument/2006/relationships/slide" Target="slides/slide8.xml"/><Relationship Id="rId15" Type="http://schemas.openxmlformats.org/officeDocument/2006/relationships/slide" Target="slides/slide4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1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1828800" cy="137437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OBIONE · STATUS REPORT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90800"/>
            <a:ext cx="1100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600" b="1">
                <a:solidFill>
                  <a:srgbClr val="1F3A6B"/>
                </a:solidFill>
                <a:latin typeface="Arial"/>
              </a:rPr>
              <a:t>ObiOne · Observatório de Projetos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4A4A5A"/>
                </a:solidFill>
                <a:latin typeface="Arial"/>
              </a:rPr>
              <a:t>Backend MVP entregue · 4 semanas antes do previsto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66344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800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Equipe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292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Bruno Rocha · Cynthia Oliveira · Moisés Júnior · Raniel Silva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486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E0261E"/>
                </a:solidFill>
                <a:latin typeface="Arial"/>
              </a:rPr>
              <a:t>Professor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715000"/>
            <a:ext cx="8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F3A6B"/>
                </a:solidFill>
                <a:latin typeface="Arial"/>
              </a:rPr>
              <a:t>Prof. Ivaldir Honório de Farias Júnior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Universidade de Pernambuco · Escola Politécnica de Pernambuco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5379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B6B7A"/>
                </a:solidFill>
                <a:latin typeface="Arial"/>
              </a:rPr>
              <a:t>Recife, Maio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STATUS REPORT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8745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336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Por que um observatório vivo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5603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 escopo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8194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O que vamos construir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004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2461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Cronograma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5052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9 semanas · 4 marcos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6200"/>
            <a:ext cx="685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3192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Status atual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19100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A5A"/>
                </a:solidFill>
                <a:latin typeface="Arial"/>
              </a:rPr>
              <a:t>Onde estamos e o que vem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Observatório é mais que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OBSERVATÓRIOS VS. FERRAMENTAS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Comunidade ativa de múltiplos atores</a:t>
            </a:r>
          </a:p>
          <a:p>
            <a:pPr algn="l"/>
            <a:r>
              <a:rPr sz="800" b="0" i="0">
                <a:solidFill>
                  <a:srgbClr val="2C2C3E"/>
                </a:solidFill>
                <a:latin typeface="Arial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Um observatório é espaço de conhecimento entre consultoria, clientes e pesquisa, mediado por interação contínua.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Ferramentas de gestão oferecem visualização do status. Faltam o tecido social e a curadoria do conhecimento.</a:t>
            </a:r>
          </a:p>
          <a:p>
            <a:pPr algn="l"/>
            <a:r>
              <a:rPr sz="1300" b="0" i="1">
                <a:solidFill>
                  <a:srgbClr val="2C2C3E"/>
                </a:solidFill>
                <a:latin typeface="Arial"/>
              </a:rPr>
              <a:t>Resultado: observatórios reais são raros porque mantê-los vivos custa caro.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POR QUE É CARO?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Três fontes de fricção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0175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44 atrib.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0480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por projeto, curados à mão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0000" y="32918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ler .docx, estruturar, atualizar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7033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Repetitivo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0000" y="37338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comunicar progresso aos clientes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776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traduzir técnico em narrativa acessível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3891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Custoso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0000" y="44196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manter engajamento da comunidade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0000" y="46634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responder, contextualizar, sugerir próximos passos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172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3A6B"/>
                </a:solidFill>
                <a:latin typeface="Arial"/>
              </a:rPr>
              <a:t>Sem reduzir essa fricção, o observatório fica restrito à teoria. É aí que entra a IA Generativa.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0" y="35205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Fonte: Vieira (2022) · Cap. 5 (MPO)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0" y="42063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Fonte: OPTI-PE como caso prático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0000" y="48921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Fonte: Vieira (2022) · Seção 6.4 · Trabalhos Futuros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5 grupos · 18 requisitos funcionais · smoke real Ollama em 5/5 docs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Pipeline LLM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4028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Extração dos 44 atributos via Llama 3.1 8B. Smoke em 5/5 projetos · 46% cobertura média em ~66s/doc.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69748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278892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Observação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10896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Dashboard com cobertura do MPO. Cliente vê apenas o seu projeto.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56616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65760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Comunidade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7764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Autenticação, perfis semi-abertos, comentários e feed in-app.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43484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452628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IA-Assistente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4632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Resumo do projeto (tradutora) + drafts assistidos (redutora de fricção).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530352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Avaliação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1500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Precisão · recall · F1 · concordância humana em 3 projetos + Likert × 2.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5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CRONOGRAMA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9 semanas restantes · 4 marcos · entrega 10/07/2026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58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5800" y="1554480"/>
            <a:ext cx="2667000" cy="685800"/>
          </a:xfrm>
          <a:prstGeom prst="rect">
            <a:avLst/>
          </a:prstGeom>
          <a:solidFill>
            <a:srgbClr val="1F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86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M1 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PREPARAÇÃO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22-28 mai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Atributos-alvo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686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Protocolo de avaliação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" y="3931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Início dos gabaritos (3 projetos)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86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86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Concluído. Destravou o Sprint 1.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86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686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86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Status Report 1 (hoje)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052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05200" y="1554480"/>
            <a:ext cx="2667000" cy="6858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880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M2 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880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PIPELINE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880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880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29 mai - 11 jun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880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880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Cadastro · upload · autenticação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880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Pipeline LLM nos 5 projetos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880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880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Backend antecipado. Smoke Ollama 5/5.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880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6880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880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Extrações dos 5 projetos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46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324600" y="1554480"/>
            <a:ext cx="2667000" cy="685800"/>
          </a:xfrm>
          <a:prstGeom prst="rect">
            <a:avLst/>
          </a:prstGeom>
          <a:solidFill>
            <a:srgbClr val="1F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5074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074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DASHBOARD + IA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5074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074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12-25 jun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074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074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Cobertura · perfis · comentários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5074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Resumo Cliente (IA)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07480" y="3931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Drafts assistidos (IA)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074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074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Onde a comunidade vive.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074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5074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074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Status Report 2 (19/06)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144000" y="1554480"/>
            <a:ext cx="266700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0" y="1554480"/>
            <a:ext cx="2667000" cy="685800"/>
          </a:xfrm>
          <a:prstGeom prst="rect">
            <a:avLst/>
          </a:prstGeom>
          <a:solidFill>
            <a:srgbClr val="16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326880" y="1645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M4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326880" y="187452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AVALIAÇÃO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326880" y="23545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DURAÇÃO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326880" y="2606040"/>
            <a:ext cx="230124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Arial"/>
              </a:rPr>
              <a:t>26 jun - 2 jul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26880" y="3108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ESCOPO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326880" y="338328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Precisão · Recall · F1 · Kappa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326880" y="36576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Likert × 2 audiências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326880" y="393192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2C2C3E"/>
                </a:solidFill>
                <a:latin typeface="Arial"/>
              </a:rPr>
              <a:t>+ Exportação consolidada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26880" y="425196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JUSTIFICATIVA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326880" y="4480560"/>
            <a:ext cx="2301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A5A"/>
                </a:solidFill>
                <a:latin typeface="Arial"/>
              </a:rPr>
              <a:t>Fecha o ciclo DSR.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326880" y="4983480"/>
            <a:ext cx="2301240" cy="12192"/>
          </a:xfrm>
          <a:prstGeom prst="rect">
            <a:avLst/>
          </a:prstGeom>
          <a:solidFill>
            <a:srgbClr val="D4D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326880" y="50292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0261E"/>
                </a:solidFill>
                <a:latin typeface="Arial"/>
              </a:rPr>
              <a:t>ENTREGÁVEL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26880" y="5257800"/>
            <a:ext cx="2301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Arial"/>
              </a:rPr>
              <a:t>Relato + Apresentação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5577840"/>
            <a:ext cx="6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Escrita do relato: 3-9 jul · Apresentação final: 10/07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10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ONDE ESTAMOS · O QUE 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Status atual e próximas semanas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486400" cy="45720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5486400" cy="76200"/>
          </a:xfrm>
          <a:prstGeom prst="rect">
            <a:avLst/>
          </a:prstGeom>
          <a:solidFill>
            <a:srgbClr val="16A0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592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6A05C"/>
                </a:solidFill>
                <a:latin typeface="Arial"/>
              </a:rPr>
              <a:t>ESTÁ FEITO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Sprint 0 + Sprint 1 antecipada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9260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Requisitos + protocolo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154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18 RFs + 9 RNFs + rubrica híbrida 0/0,5/1 + Kappa.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3192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Backend MVP entregue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1605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18/18 USs · 287 testes · 32 endpoints · 8 migrations · CI rodando.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3776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Smoke real do pipeline 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166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Llama 3.1 8B local em 5/5 projetos · 46% cobertura média.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645920"/>
            <a:ext cx="5486400" cy="45720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645920"/>
            <a:ext cx="5486400" cy="762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182592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PRÓXIMAS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194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F3A6B"/>
                </a:solidFill>
                <a:latin typeface="Arial"/>
              </a:rPr>
              <a:t>O que vem agora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92608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29260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Frontend e gabarito (sprints 2-4)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154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Bruno integra os 32 endpoints. Cynthia + Moisés produzem o gabarito manual.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93192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Sprint 5 destravada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605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Backend compara via /extractions/evaluation. Rubrica humana + concordância.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937760"/>
            <a:ext cx="457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0261E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Arial"/>
              </a:rPr>
              <a:t>Status Report 2 (19/06)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66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Frontend pronto · IA-Assistente em uso real · Likert lançado.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11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286000"/>
            <a:ext cx="11000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1F3A6B"/>
                </a:solidFill>
                <a:latin typeface="Arial"/>
              </a:rPr>
              <a:t>Obrigado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429000"/>
            <a:ext cx="9144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66160"/>
            <a:ext cx="1100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4A5A"/>
                </a:solidFill>
                <a:latin typeface="Arial"/>
              </a:rPr>
              <a:t>Discussão e 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66344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6B7A"/>
                </a:solidFill>
                <a:latin typeface="Arial"/>
              </a:rPr>
              <a:t>Documentação completa disponível no repositório do projeto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9204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6B7A"/>
                </a:solidFill>
                <a:latin typeface="Arial"/>
              </a:rPr>
              <a:t>github.com/raniel90/obione  ·  endpoints documentados  ·  diagramas de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807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Equipe ObiOne  ·  UPE/POLI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09360"/>
            <a:ext cx="1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Professor: Prof. Ivaldir Honório de Farias Júnior  ·  Recife, Maio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O QUE É O OBIONE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Observatório-de-portfólio para consultoria de projetos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PARA QUEM E PARA QUÊ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Consultoria · Clientes · Comunidade</a:t>
            </a:r>
          </a:p>
          <a:p>
            <a:pPr algn="l"/>
            <a:r>
              <a:rPr sz="800" b="0" i="0">
                <a:solidFill>
                  <a:srgbClr val="2C2C3E"/>
                </a:solidFill>
                <a:latin typeface="Arial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Consultoria: observa o portfólio como conhecimento estruturado, não como pasta de Drive.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2C2C3E"/>
                </a:solidFill>
                <a:latin typeface="Arial"/>
              </a:rPr>
              <a:t>Cliente: acompanha o próprio projeto em linguagem acessível, sem depender de reunião.</a:t>
            </a:r>
          </a:p>
          <a:p>
            <a:pPr algn="l"/>
            <a:r>
              <a:rPr sz="1300" b="0" i="1">
                <a:solidFill>
                  <a:srgbClr val="2C2C3E"/>
                </a:solidFill>
                <a:latin typeface="Arial"/>
              </a:rPr>
              <a:t>Comunidade vira ativo: comentários, comparativos cross-projeto, IA mantém o tecido vivo.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828800"/>
            <a:ext cx="5486400" cy="411480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2057400"/>
            <a:ext cx="5029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DIFERENCIAL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377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3A6B"/>
                </a:solidFill>
                <a:latin typeface="Arial"/>
              </a:rPr>
              <a:t>Combinação inédita em 3 vetores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0175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vs. PM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0480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Jira, Trello: gerenciam tarefas e prazos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0000" y="32918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ObiOne observa o projeto como objeto (MPO · 44 atributos)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7033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vs. BI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0000" y="37338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Power BI, Looker: dashboards estáticos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776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ObiOne extrai significado de .docx com LLM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389120"/>
            <a:ext cx="15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0261E"/>
                </a:solidFill>
                <a:latin typeface="Arial"/>
              </a:rPr>
              <a:t>vs. acad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0000" y="4419600"/>
            <a:ext cx="35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3A6B"/>
                </a:solidFill>
                <a:latin typeface="Arial"/>
              </a:rPr>
              <a:t>OPTI-PE e similares: instrumentos de pesquisa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0000" y="4663440"/>
            <a:ext cx="35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A4A5A"/>
                </a:solidFill>
                <a:latin typeface="Arial"/>
              </a:rPr>
              <a:t>ObiOne é operacional: consultoria + clientes no dia-a-dia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172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F3A6B"/>
                </a:solidFill>
                <a:latin typeface="Arial"/>
              </a:rPr>
              <a:t>Único a combinar observação MPO + extração com IA + comunidade ativa em uma só plataforma.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0000" y="35205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Base: Quadro 37 (Vieira, 2022 · p. 264)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0000" y="42063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Referência: OPTI-PE (Vieira, 2022 · Cap. 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0000" y="4892120"/>
            <a:ext cx="350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6B7A"/>
                </a:solidFill>
                <a:latin typeface="Arial"/>
              </a:rPr>
              <a:t>Análise: levantamento de ferramentas de mercado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4 / 12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REQUISITOS · FUNDAÇÃO +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6 RFs · sprints 2 e 3 · todos implementados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RF01 · Autenticar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4028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JWT 24h. Admin cria usuários, sem cadastro público.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69748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278892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RF02 · Perfis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10896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Consultor, cliente, admin. Acesso semi-aberto conforme MPO.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56616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65760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RF03 · Cadastro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7764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Projeto com nome, domínio e descrição.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43484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452628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RF04 · Upload .docx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4632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Validação de tipo + checksum + limite 50 MB. Rejeita duplicatas.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530352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RF05 + RF06 · Extração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1500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44 atributos do Quadro 37 via LLM. Prompt e modelo registrados.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6 / 12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REQUISITOS · OBSERVAÇÃO + COMUNIDADE +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7 RFs · sprints 3 e 4 · todos implementados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RF07 + RF09 · Portfólio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4028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Visão do consultor com status e cobertura % do MPO.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69748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278892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RF08 · Detalhe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10896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Documentos, extrações, cobertura e comentários recentes do projeto.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56616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65760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RF10 + RF11 · Diálogo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7764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Comentários com 1 nível de threading + feed in-app cronológico.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43484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452628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RF12 · Resumo Cliente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4632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IA tradutora. Sempre revisado pelo consultor antes de publicar.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530352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RF13 · Drafts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1500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IA redutora de fricção. Próximos passos e pontos de atenção.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7 / 12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REQUISITOS · AVALIAÇÃO DSR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Sprint 5 · backend pronto · coleta humana pendente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RF14 · Gabarito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4028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Gabarito humano carregado e validado contra os 44 atributos do MPO.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69748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278892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RF15 · Comparação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10896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Comparação exata em estruturado + rubrica humana 0/0,5/1 + concordância humana.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56616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65760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RF16 · Likert Consultoria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7764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4 dimensões: drafts, fricção, qualidade do resumo, manutenibilidade.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43484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452628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RF17 · Likert Clientes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4632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4 dimensões: clareza, utilidade do espaço, diálogo, sentido de inclusão.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530352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RF18 · Exportação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1500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JSON (research) + CSV long-format (rubrica). Subsidia o relato.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8 / 12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457200"/>
            <a:ext cx="1127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0261E"/>
                </a:solidFill>
                <a:latin typeface="Arial"/>
              </a:rPr>
              <a:t>REQUISITOS NÃO-FUNCIONAIS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00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F3A6B"/>
                </a:solidFill>
                <a:latin typeface="Arial"/>
              </a:rPr>
              <a:t>9 RNFs por tema · todos endereçados arquiteturalmente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32560"/>
            <a:ext cx="685800" cy="36576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G1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182880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92024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Segurança &amp; LGPD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4028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Autenticação obrigatória (RNF01). NDA + criptografia + logs (RNF02).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9748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69748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0200" y="278892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Reprodutibilidade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10896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Prompt e modelo LLM registrados (RNF03). Schema JSON versionado (RNF04).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6616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356616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0200" y="365760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7764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Extração LLM ≤ 90s, medido 46-79s (RNF05). REST ≤ 500ms p95 (RNF06).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43484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43484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452628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Usabilidade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4632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Linguagem cidadã no Resumo do Cliente. Revisão obrigatória (RNF07).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03520"/>
            <a:ext cx="6858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G5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0" y="5303520"/>
            <a:ext cx="10500000" cy="822960"/>
          </a:xfrm>
          <a:prstGeom prst="rect">
            <a:avLst/>
          </a:prstGeom>
          <a:solidFill>
            <a:srgbClr val="F4F4F6"/>
          </a:solidFill>
          <a:ln w="9525">
            <a:solidFill>
              <a:srgbClr val="D4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0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F3A6B"/>
                </a:solidFill>
                <a:latin typeface="Arial"/>
              </a:rPr>
              <a:t>Manutenibilidade &amp; Custo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15000"/>
            <a:ext cx="1000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A5A"/>
                </a:solidFill>
                <a:latin typeface="Arial"/>
              </a:rPr>
              <a:t>Ports &amp; adapters para LLM e storage (RNF08). Ollama local zero-cost (RNF09).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6400800"/>
            <a:ext cx="11277600" cy="15240"/>
          </a:xfrm>
          <a:prstGeom prst="rect">
            <a:avLst/>
          </a:prstGeom>
          <a:solidFill>
            <a:srgbClr val="E026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8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6B7A"/>
                </a:solidFill>
                <a:latin typeface="Arial"/>
              </a:rPr>
              <a:t>Equipe ObiOne · UPE/POLI · Maio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0000" y="6492240"/>
            <a:ext cx="1000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6B7A"/>
                </a:solidFill>
                <a:latin typeface="Arial"/>
              </a:rPr>
              <a:t>9 / 12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0" y="228600"/>
            <a:ext cx="1066800" cy="8017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