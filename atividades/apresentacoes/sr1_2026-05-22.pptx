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9" r:id="rId10"/>
    <p:sldId id="275" r:id="rId14"/>
    <p:sldId id="264" r:id="rId15"/>
    <p:sldId id="270" r:id="rId21"/>
    <p:sldId id="273" r:id="rId24"/>
    <p:sldId id="274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0" Type="http://schemas.openxmlformats.org/officeDocument/2006/relationships/slide" Target="slides/slide3.xml"/><Relationship Id="rId14" Type="http://schemas.openxmlformats.org/officeDocument/2006/relationships/slide" Target="slides/slide8.xml"/><Relationship Id="rId15" Type="http://schemas.openxmlformats.org/officeDocument/2006/relationships/slide" Target="slides/slide4.xml"/><Relationship Id="rId21" Type="http://schemas.openxmlformats.org/officeDocument/2006/relationships/slide" Target="slides/slide5.xml"/><Relationship Id="rId24" Type="http://schemas.openxmlformats.org/officeDocument/2006/relationships/slide" Target="slides/slide6.xml"/><Relationship Id="rId25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up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1828800" cy="137437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2286000"/>
            <a:ext cx="1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0261E"/>
                </a:solidFill>
                <a:latin typeface="Arial"/>
              </a:rPr>
              <a:t>OBIONE · STATUS REPORT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590800"/>
            <a:ext cx="11000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600" b="1">
                <a:solidFill>
                  <a:srgbClr val="1F3A6B"/>
                </a:solidFill>
                <a:latin typeface="Arial"/>
              </a:rPr>
              <a:t>ObiOne · Observatório de Projetos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023360"/>
            <a:ext cx="11000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4A4A5A"/>
                </a:solidFill>
                <a:latin typeface="Arial"/>
              </a:rPr>
              <a:t>Apresentação à cadeira Tópicos Avançados em Engenharia de Software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4663440"/>
            <a:ext cx="914400" cy="36576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480060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E0261E"/>
                </a:solidFill>
                <a:latin typeface="Arial"/>
              </a:rPr>
              <a:t>Equipe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029200"/>
            <a:ext cx="80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F3A6B"/>
                </a:solidFill>
                <a:latin typeface="Arial"/>
              </a:rPr>
              <a:t>Bruno Rocha · Cynthia Oliveira · Moisés Júnior · Raniel Silva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48640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E0261E"/>
                </a:solidFill>
                <a:latin typeface="Arial"/>
              </a:rPr>
              <a:t>Professor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715000"/>
            <a:ext cx="80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F3A6B"/>
                </a:solidFill>
                <a:latin typeface="Arial"/>
              </a:rPr>
              <a:t>Prof. Ivaldir Honório de Farias Júnior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309360"/>
            <a:ext cx="1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Universidade de Pernambuco · Escola Politécnica de Pernambuco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537960"/>
            <a:ext cx="1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6B6B7A"/>
                </a:solidFill>
                <a:latin typeface="Arial"/>
              </a:rPr>
              <a:t>Recife, Maio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p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00" y="228600"/>
            <a:ext cx="1066800" cy="80171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1127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0261E"/>
                </a:solidFill>
                <a:latin typeface="Arial"/>
              </a:rPr>
              <a:t>STATUS REPORT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0000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F3A6B"/>
                </a:solidFill>
                <a:latin typeface="Arial"/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32560"/>
            <a:ext cx="685800" cy="36576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828800"/>
            <a:ext cx="685800" cy="5486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828800"/>
            <a:ext cx="6858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187452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F3A6B"/>
                </a:solidFill>
                <a:latin typeface="Arial"/>
              </a:rPr>
              <a:t>Contexto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213360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A5A"/>
                </a:solidFill>
                <a:latin typeface="Arial"/>
              </a:rPr>
              <a:t>Por que um observatório vivo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514600"/>
            <a:ext cx="685800" cy="5486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514600"/>
            <a:ext cx="6858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256032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F3A6B"/>
                </a:solidFill>
                <a:latin typeface="Arial"/>
              </a:rPr>
              <a:t>O escopo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281940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A5A"/>
                </a:solidFill>
                <a:latin typeface="Arial"/>
              </a:rPr>
              <a:t>O que vamos construir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3200400"/>
            <a:ext cx="685800" cy="5486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00400"/>
            <a:ext cx="6858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324612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F3A6B"/>
                </a:solidFill>
                <a:latin typeface="Arial"/>
              </a:rPr>
              <a:t>Cronograma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350520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A5A"/>
                </a:solidFill>
                <a:latin typeface="Arial"/>
              </a:rPr>
              <a:t>9 semanas · 4 marcos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3886200"/>
            <a:ext cx="685800" cy="5486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886200"/>
            <a:ext cx="6858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393192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F3A6B"/>
                </a:solidFill>
                <a:latin typeface="Arial"/>
              </a:rPr>
              <a:t>Status atual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0200" y="419100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A5A"/>
                </a:solidFill>
                <a:latin typeface="Arial"/>
              </a:rPr>
              <a:t>Onde estamos e o que vem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649224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6B7A"/>
                </a:solidFill>
                <a:latin typeface="Arial"/>
              </a:rPr>
              <a:t>Equipe ObiOne · UPE/POLI · Maio 2026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00000" y="6492240"/>
            <a:ext cx="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6B7A"/>
                </a:solidFill>
                <a:latin typeface="Arial"/>
              </a:rPr>
              <a:t>2 /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p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00" y="228600"/>
            <a:ext cx="1066800" cy="80171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1127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0261E"/>
                </a:solidFill>
                <a:latin typeface="Arial"/>
              </a:rPr>
              <a:t>CONTEXTO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0000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F3A6B"/>
                </a:solidFill>
                <a:latin typeface="Arial"/>
              </a:rPr>
              <a:t>Observatório é mais que dashboard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32560"/>
            <a:ext cx="685800" cy="36576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828800"/>
            <a:ext cx="5486400" cy="4114800"/>
          </a:xfrm>
          <a:prstGeom prst="rect">
            <a:avLst/>
          </a:prstGeom>
          <a:solidFill>
            <a:srgbClr val="F4F4F6"/>
          </a:solidFill>
          <a:ln w="9525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5029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0261E"/>
                </a:solidFill>
                <a:latin typeface="Arial"/>
              </a:rPr>
              <a:t>OBSERVATÓRIOS VS. FERRAMENTAS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F3A6B"/>
                </a:solidFill>
                <a:latin typeface="Arial"/>
              </a:rPr>
              <a:t>Comunidade ativa de múltiplos atores</a:t>
            </a:r>
          </a:p>
          <a:p>
            <a:pPr algn="l"/>
            <a:r>
              <a:rPr sz="800" b="0" i="0">
                <a:solidFill>
                  <a:srgbClr val="2C2C3E"/>
                </a:solidFill>
                <a:latin typeface="Arial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2C2C3E"/>
                </a:solidFill>
                <a:latin typeface="Arial"/>
              </a:rPr>
              <a:t>Um observatório é espaço de conhecimento entre consultoria, clientes e pesquisa, mediado por interação contínua.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2C2C3E"/>
                </a:solidFill>
                <a:latin typeface="Arial"/>
              </a:rPr>
              <a:t>Ferramentas de gestão oferecem visualização do status. Faltam o tecido social e a curadoria do conhecimento.</a:t>
            </a:r>
          </a:p>
          <a:p>
            <a:pPr algn="l"/>
            <a:r>
              <a:rPr sz="1300" b="0" i="1">
                <a:solidFill>
                  <a:srgbClr val="2C2C3E"/>
                </a:solidFill>
                <a:latin typeface="Arial"/>
              </a:rPr>
              <a:t>Resultado: observatórios reais são raros porque mantê-los vivos custa caro.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1828800"/>
            <a:ext cx="5486400" cy="4114800"/>
          </a:xfrm>
          <a:prstGeom prst="rect">
            <a:avLst/>
          </a:prstGeom>
          <a:solidFill>
            <a:srgbClr val="F4F4F6"/>
          </a:solidFill>
          <a:ln w="9525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9400" y="2057400"/>
            <a:ext cx="5029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0261E"/>
                </a:solidFill>
                <a:latin typeface="Arial"/>
              </a:rPr>
              <a:t>POR QUE É CARO?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237744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F3A6B"/>
                </a:solidFill>
                <a:latin typeface="Arial"/>
              </a:rPr>
              <a:t>Três fontes de fricção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3017520"/>
            <a:ext cx="150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E0261E"/>
                </a:solidFill>
                <a:latin typeface="Arial"/>
              </a:rPr>
              <a:t>Manual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0000" y="3048000"/>
            <a:ext cx="35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3A6B"/>
                </a:solidFill>
                <a:latin typeface="Arial"/>
              </a:rPr>
              <a:t>curadoria de atributos do projeto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00000" y="3291840"/>
            <a:ext cx="35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A4A5A"/>
                </a:solidFill>
                <a:latin typeface="Arial"/>
              </a:rPr>
              <a:t>ler documentos, estruturar, atualizar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3703320"/>
            <a:ext cx="150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E0261E"/>
                </a:solidFill>
                <a:latin typeface="Arial"/>
              </a:rPr>
              <a:t>Repetitivo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00000" y="3733800"/>
            <a:ext cx="35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3A6B"/>
                </a:solidFill>
                <a:latin typeface="Arial"/>
              </a:rPr>
              <a:t>comunicar progresso aos clientes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00000" y="3977640"/>
            <a:ext cx="35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A4A5A"/>
                </a:solidFill>
                <a:latin typeface="Arial"/>
              </a:rPr>
              <a:t>traduzir técnico em narrativa acessível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4389120"/>
            <a:ext cx="150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E0261E"/>
                </a:solidFill>
                <a:latin typeface="Arial"/>
              </a:rPr>
              <a:t>Custoso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00000" y="4419600"/>
            <a:ext cx="35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3A6B"/>
                </a:solidFill>
                <a:latin typeface="Arial"/>
              </a:rPr>
              <a:t>manter engajamento da comunidade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00000" y="4663440"/>
            <a:ext cx="35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A4A5A"/>
                </a:solidFill>
                <a:latin typeface="Arial"/>
              </a:rPr>
              <a:t>responder, contextualizar, sugerir próximos passos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6172200"/>
            <a:ext cx="1127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F3A6B"/>
                </a:solidFill>
                <a:latin typeface="Arial"/>
              </a:rPr>
              <a:t>Sem reduzir essa fricção, o observatório fica restrito à teoria. É aí que entra a IA Generativa.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00000" y="3520520"/>
            <a:ext cx="3500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B6B7A"/>
                </a:solidFill>
                <a:latin typeface="Arial"/>
              </a:rPr>
              <a:t>Fonte: Vieira (2022) · Cap. 5 (MPO)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00000" y="4206320"/>
            <a:ext cx="3500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B6B7A"/>
                </a:solidFill>
                <a:latin typeface="Arial"/>
              </a:rPr>
              <a:t>Fonte: OPTI-PE como caso prático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00000" y="4892120"/>
            <a:ext cx="3500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B6B7A"/>
                </a:solidFill>
                <a:latin typeface="Arial"/>
              </a:rPr>
              <a:t>Fonte: Vieira (2022) · Seção 6.4 · Trabalhos Futuros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649224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6B7A"/>
                </a:solidFill>
                <a:latin typeface="Arial"/>
              </a:rPr>
              <a:t>Equipe ObiOne · UPE/POLI · Maio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00000" y="6492240"/>
            <a:ext cx="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6B7A"/>
                </a:solidFill>
                <a:latin typeface="Arial"/>
              </a:rPr>
              <a:t>3 /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p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00" y="228600"/>
            <a:ext cx="1066800" cy="80171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1127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0261E"/>
                </a:solidFill>
                <a:latin typeface="Arial"/>
              </a:rPr>
              <a:t>ESCOPO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0000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F3A6B"/>
                </a:solidFill>
                <a:latin typeface="Arial"/>
              </a:rPr>
              <a:t>5 grupos · 18 requisitos funcionais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32560"/>
            <a:ext cx="685800" cy="36576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828800"/>
            <a:ext cx="685800" cy="82296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828800"/>
            <a:ext cx="6858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G1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1828800"/>
            <a:ext cx="10500000" cy="822960"/>
          </a:xfrm>
          <a:prstGeom prst="rect">
            <a:avLst/>
          </a:prstGeom>
          <a:solidFill>
            <a:srgbClr val="F4F4F6"/>
          </a:solidFill>
          <a:ln w="9525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00200" y="1920240"/>
            <a:ext cx="100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3A6B"/>
                </a:solidFill>
                <a:latin typeface="Arial"/>
              </a:rPr>
              <a:t>Pipeline LLM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240280"/>
            <a:ext cx="1000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Extração via LLM dos atributos do Quadro 37 a partir de documentos .docx.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697480"/>
            <a:ext cx="685800" cy="82296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697480"/>
            <a:ext cx="6858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G2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2697480"/>
            <a:ext cx="10500000" cy="822960"/>
          </a:xfrm>
          <a:prstGeom prst="rect">
            <a:avLst/>
          </a:prstGeom>
          <a:solidFill>
            <a:srgbClr val="F4F4F6"/>
          </a:solidFill>
          <a:ln w="9525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00200" y="2788920"/>
            <a:ext cx="100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3A6B"/>
                </a:solidFill>
                <a:latin typeface="Arial"/>
              </a:rPr>
              <a:t>Observação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3108960"/>
            <a:ext cx="1000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Dashboard com cobertura do MPO. Cliente vê apenas o seu projeto.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566160"/>
            <a:ext cx="685800" cy="82296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566160"/>
            <a:ext cx="6858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G3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71600" y="3566160"/>
            <a:ext cx="10500000" cy="822960"/>
          </a:xfrm>
          <a:prstGeom prst="rect">
            <a:avLst/>
          </a:prstGeom>
          <a:solidFill>
            <a:srgbClr val="F4F4F6"/>
          </a:solidFill>
          <a:ln w="9525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00200" y="3657600"/>
            <a:ext cx="100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3A6B"/>
                </a:solidFill>
                <a:latin typeface="Arial"/>
              </a:rPr>
              <a:t>Comunidade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3977640"/>
            <a:ext cx="1000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Auth, perfis semi-abertos, comentários e feed in-app.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4434840"/>
            <a:ext cx="685800" cy="82296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434840"/>
            <a:ext cx="6858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G4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71600" y="4434840"/>
            <a:ext cx="10500000" cy="822960"/>
          </a:xfrm>
          <a:prstGeom prst="rect">
            <a:avLst/>
          </a:prstGeom>
          <a:solidFill>
            <a:srgbClr val="F4F4F6"/>
          </a:solidFill>
          <a:ln w="9525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600200" y="4526280"/>
            <a:ext cx="100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3A6B"/>
                </a:solidFill>
                <a:latin typeface="Arial"/>
              </a:rPr>
              <a:t>IA-Assistente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00200" y="4846320"/>
            <a:ext cx="1000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Resumo do projeto (tradutora) + drafts assistidos (redutora de fricção).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5303520"/>
            <a:ext cx="685800" cy="82296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303520"/>
            <a:ext cx="6858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G5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371600" y="5303520"/>
            <a:ext cx="10500000" cy="822960"/>
          </a:xfrm>
          <a:prstGeom prst="rect">
            <a:avLst/>
          </a:prstGeom>
          <a:solidFill>
            <a:srgbClr val="F4F4F6"/>
          </a:solidFill>
          <a:ln w="9525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00200" y="5394960"/>
            <a:ext cx="100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3A6B"/>
                </a:solidFill>
                <a:latin typeface="Arial"/>
              </a:rPr>
              <a:t>Avaliação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00200" y="5715000"/>
            <a:ext cx="1000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Precisão · recall · F1 · Kappa em 3 projetos + Likert × 2 audiências.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649224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6B7A"/>
                </a:solidFill>
                <a:latin typeface="Arial"/>
              </a:rPr>
              <a:t>Equipe ObiOne · UPE/POLI · Maio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000000" y="6492240"/>
            <a:ext cx="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6B7A"/>
                </a:solidFill>
                <a:latin typeface="Arial"/>
              </a:rPr>
              <a:t>5 /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p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00" y="228600"/>
            <a:ext cx="1066800" cy="801716"/>
          </a:xfrm>
          <a:prstGeom prst="rect">
            <a:avLst/>
          </a:prstGeom>
        </p:spPr>
      </p:pic>
      <p:sp>
        <p:nvSpPr>
          <p:cNvPr id="51" name="Rectangle 50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57200" y="457200"/>
            <a:ext cx="1127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0261E"/>
                </a:solidFill>
                <a:latin typeface="Arial"/>
              </a:rPr>
              <a:t>CRONOGRAMA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7200" y="685800"/>
            <a:ext cx="10000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F3A6B"/>
                </a:solidFill>
                <a:latin typeface="Arial"/>
              </a:rPr>
              <a:t>9 semanas restantes · 4 marcos · entrega 10/07/2026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7200" y="1432560"/>
            <a:ext cx="685800" cy="36576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85800" y="1554480"/>
            <a:ext cx="2667000" cy="3977639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85800" y="1554480"/>
            <a:ext cx="2667000" cy="685800"/>
          </a:xfrm>
          <a:prstGeom prst="rect">
            <a:avLst/>
          </a:prstGeom>
          <a:solidFill>
            <a:srgbClr val="1F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68680" y="164592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</a:rPr>
              <a:t>M1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68680" y="1874520"/>
            <a:ext cx="230124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PREPARAÇÃO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" y="235458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0261E"/>
                </a:solidFill>
                <a:latin typeface="Arial"/>
              </a:rPr>
              <a:t>DURAÇÃO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68680" y="2606040"/>
            <a:ext cx="230124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A1A2E"/>
                </a:solidFill>
                <a:latin typeface="Arial"/>
              </a:rPr>
              <a:t>22-28 mai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68680" y="310896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0261E"/>
                </a:solidFill>
                <a:latin typeface="Arial"/>
              </a:rPr>
              <a:t>ESCOPO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68680" y="338328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C2C3E"/>
                </a:solidFill>
                <a:latin typeface="Arial"/>
              </a:rPr>
              <a:t>Atributos-alvo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68680" y="365760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C2C3E"/>
                </a:solidFill>
                <a:latin typeface="Arial"/>
              </a:rPr>
              <a:t>+ Protocolo de avaliação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68680" y="393192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C2C3E"/>
                </a:solidFill>
                <a:latin typeface="Arial"/>
              </a:rPr>
              <a:t>+ Início dos gabaritos (3 projetos)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68680" y="425196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0261E"/>
                </a:solidFill>
                <a:latin typeface="Arial"/>
              </a:rPr>
              <a:t>JUSTIFICATIVA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68680" y="4480560"/>
            <a:ext cx="2301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4A4A5A"/>
                </a:solidFill>
                <a:latin typeface="Arial"/>
              </a:rPr>
              <a:t>Destrava todo o Sprint 1.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68680" y="4983480"/>
            <a:ext cx="2301240" cy="12192"/>
          </a:xfrm>
          <a:prstGeom prst="rect">
            <a:avLst/>
          </a:prstGeom>
          <a:solidFill>
            <a:srgbClr val="D4D4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68680" y="502920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0261E"/>
                </a:solidFill>
                <a:latin typeface="Arial"/>
              </a:rPr>
              <a:t>ENTREGÁVEL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68680" y="525780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  <a:latin typeface="Arial"/>
              </a:rPr>
              <a:t>Status Report 1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505200" y="1554480"/>
            <a:ext cx="2667000" cy="3977639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505200" y="1554480"/>
            <a:ext cx="2667000" cy="68580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688080" y="164592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</a:rPr>
              <a:t>M2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88080" y="1874520"/>
            <a:ext cx="230124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PIPELINE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688080" y="235458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0261E"/>
                </a:solidFill>
                <a:latin typeface="Arial"/>
              </a:rPr>
              <a:t>DURAÇÃO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688080" y="2606040"/>
            <a:ext cx="230124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A1A2E"/>
                </a:solidFill>
                <a:latin typeface="Arial"/>
              </a:rPr>
              <a:t>29 mai - 11 jun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688080" y="310896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0261E"/>
                </a:solidFill>
                <a:latin typeface="Arial"/>
              </a:rPr>
              <a:t>ESCOPO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688080" y="338328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C2C3E"/>
                </a:solidFill>
                <a:latin typeface="Arial"/>
              </a:rPr>
              <a:t>Cadastro · upload · auth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88080" y="365760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C2C3E"/>
                </a:solidFill>
                <a:latin typeface="Arial"/>
              </a:rPr>
              <a:t>+ Pipeline LLM nos 5 projetos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688080" y="425196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0261E"/>
                </a:solidFill>
                <a:latin typeface="Arial"/>
              </a:rPr>
              <a:t>JUSTIFICATIVA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688080" y="4480560"/>
            <a:ext cx="2301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4A4A5A"/>
                </a:solidFill>
                <a:latin typeface="Arial"/>
              </a:rPr>
              <a:t>Núcleo técnico da extração de atributos.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688080" y="4983480"/>
            <a:ext cx="2301240" cy="12192"/>
          </a:xfrm>
          <a:prstGeom prst="rect">
            <a:avLst/>
          </a:prstGeom>
          <a:solidFill>
            <a:srgbClr val="D4D4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688080" y="502920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0261E"/>
                </a:solidFill>
                <a:latin typeface="Arial"/>
              </a:rPr>
              <a:t>ENTREGÁVEL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688080" y="525780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  <a:latin typeface="Arial"/>
              </a:rPr>
              <a:t>5 JSONs persistidos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324600" y="1554480"/>
            <a:ext cx="2667000" cy="3977639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6324600" y="1554480"/>
            <a:ext cx="2667000" cy="685800"/>
          </a:xfrm>
          <a:prstGeom prst="rect">
            <a:avLst/>
          </a:prstGeom>
          <a:solidFill>
            <a:srgbClr val="1F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507480" y="164592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</a:rPr>
              <a:t>M3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507480" y="1874520"/>
            <a:ext cx="230124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DASHBOARD + IA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507480" y="235458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0261E"/>
                </a:solidFill>
                <a:latin typeface="Arial"/>
              </a:rPr>
              <a:t>DURAÇÃO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507480" y="2606040"/>
            <a:ext cx="230124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A1A2E"/>
                </a:solidFill>
                <a:latin typeface="Arial"/>
              </a:rPr>
              <a:t>12-25 jun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507480" y="310896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0261E"/>
                </a:solidFill>
                <a:latin typeface="Arial"/>
              </a:rPr>
              <a:t>ESCOPO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507480" y="338328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C2C3E"/>
                </a:solidFill>
                <a:latin typeface="Arial"/>
              </a:rPr>
              <a:t>Cobertura · perfis · comentários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507480" y="365760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C2C3E"/>
                </a:solidFill>
                <a:latin typeface="Arial"/>
              </a:rPr>
              <a:t>+ Resumo Cliente (IA)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507480" y="393192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C2C3E"/>
                </a:solidFill>
                <a:latin typeface="Arial"/>
              </a:rPr>
              <a:t>+ Drafts assistidos (IA)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507480" y="425196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0261E"/>
                </a:solidFill>
                <a:latin typeface="Arial"/>
              </a:rPr>
              <a:t>JUSTIFICATIVA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507480" y="4480560"/>
            <a:ext cx="2301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4A4A5A"/>
                </a:solidFill>
                <a:latin typeface="Arial"/>
              </a:rPr>
              <a:t>Onde a comunidade vive.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507480" y="4983480"/>
            <a:ext cx="2301240" cy="12192"/>
          </a:xfrm>
          <a:prstGeom prst="rect">
            <a:avLst/>
          </a:prstGeom>
          <a:solidFill>
            <a:srgbClr val="D4D4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507480" y="502920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0261E"/>
                </a:solidFill>
                <a:latin typeface="Arial"/>
              </a:rPr>
              <a:t>ENTREGÁVEL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507480" y="525780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  <a:latin typeface="Arial"/>
              </a:rPr>
              <a:t>Status Report 2 (19/06)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9144000" y="1554480"/>
            <a:ext cx="2667000" cy="3977639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9144000" y="1554480"/>
            <a:ext cx="2667000" cy="685800"/>
          </a:xfrm>
          <a:prstGeom prst="rect">
            <a:avLst/>
          </a:prstGeom>
          <a:solidFill>
            <a:srgbClr val="16A0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9326880" y="164592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</a:rPr>
              <a:t>M4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326880" y="1874520"/>
            <a:ext cx="230124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AVALIAÇÃO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9326880" y="235458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0261E"/>
                </a:solidFill>
                <a:latin typeface="Arial"/>
              </a:rPr>
              <a:t>DURAÇÃO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326880" y="2606040"/>
            <a:ext cx="230124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A1A2E"/>
                </a:solidFill>
                <a:latin typeface="Arial"/>
              </a:rPr>
              <a:t>26 jun - 2 jul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326880" y="310896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0261E"/>
                </a:solidFill>
                <a:latin typeface="Arial"/>
              </a:rPr>
              <a:t>ESCOPO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326880" y="338328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C2C3E"/>
                </a:solidFill>
                <a:latin typeface="Arial"/>
              </a:rPr>
              <a:t>Precisão · Recall · F1 · Kappa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326880" y="365760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C2C3E"/>
                </a:solidFill>
                <a:latin typeface="Arial"/>
              </a:rPr>
              <a:t>+ Likert × 2 audiências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9326880" y="393192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C2C3E"/>
                </a:solidFill>
                <a:latin typeface="Arial"/>
              </a:rPr>
              <a:t>+ Exportação consolidada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326880" y="425196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0261E"/>
                </a:solidFill>
                <a:latin typeface="Arial"/>
              </a:rPr>
              <a:t>JUSTIFICATIVA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326880" y="4480560"/>
            <a:ext cx="2301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4A4A5A"/>
                </a:solidFill>
                <a:latin typeface="Arial"/>
              </a:rPr>
              <a:t>Fecha o ciclo DSR.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9326880" y="4983480"/>
            <a:ext cx="2301240" cy="12192"/>
          </a:xfrm>
          <a:prstGeom prst="rect">
            <a:avLst/>
          </a:prstGeom>
          <a:solidFill>
            <a:srgbClr val="D4D4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9326880" y="502920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0261E"/>
                </a:solidFill>
                <a:latin typeface="Arial"/>
              </a:rPr>
              <a:t>ENTREGÁVEL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326880" y="525780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  <a:latin typeface="Arial"/>
              </a:rPr>
              <a:t>Relato + Apresentação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85800" y="5577840"/>
            <a:ext cx="6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3A6B"/>
                </a:solidFill>
                <a:latin typeface="Arial"/>
              </a:rPr>
              <a:t>Escrita do relato: 3-9 jul · Apresentação final: 10/07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457200" y="649224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6B7A"/>
                </a:solidFill>
                <a:latin typeface="Arial"/>
              </a:rPr>
              <a:t>Equipe ObiOne · UPE/POLI · Maio 2026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1000000" y="6492240"/>
            <a:ext cx="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6B7A"/>
                </a:solidFill>
                <a:latin typeface="Arial"/>
              </a:rPr>
              <a:t>6 /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p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00" y="228600"/>
            <a:ext cx="1066800" cy="80171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1127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0261E"/>
                </a:solidFill>
                <a:latin typeface="Arial"/>
              </a:rPr>
              <a:t>ONDE ESTAMOS · O QUE VEM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0000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F3A6B"/>
                </a:solidFill>
                <a:latin typeface="Arial"/>
              </a:rPr>
              <a:t>Sprint 0 concluído e próximas semanas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32560"/>
            <a:ext cx="685800" cy="36576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45920"/>
            <a:ext cx="5486400" cy="4572000"/>
          </a:xfrm>
          <a:prstGeom prst="rect">
            <a:avLst/>
          </a:prstGeom>
          <a:solidFill>
            <a:srgbClr val="F4F4F6"/>
          </a:solidFill>
          <a:ln w="9525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45920"/>
            <a:ext cx="5486400" cy="76200"/>
          </a:xfrm>
          <a:prstGeom prst="rect">
            <a:avLst/>
          </a:prstGeom>
          <a:solidFill>
            <a:srgbClr val="16A0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25920"/>
            <a:ext cx="5029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6A05C"/>
                </a:solidFill>
                <a:latin typeface="Arial"/>
              </a:rPr>
              <a:t>ESTÁ FEITO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F3A6B"/>
                </a:solidFill>
                <a:latin typeface="Arial"/>
              </a:rPr>
              <a:t>Sprint 1 · esta semana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926080"/>
            <a:ext cx="457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E0261E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92608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  <a:latin typeface="Arial"/>
              </a:rPr>
              <a:t>Requisitos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15468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A4A5A"/>
                </a:solidFill>
                <a:latin typeface="Arial"/>
              </a:rPr>
              <a:t>18 funcionais + 9 não funcionais em formato ficha.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931920"/>
            <a:ext cx="457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E0261E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9319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  <a:latin typeface="Arial"/>
              </a:rPr>
              <a:t>Atributos-alvo do MPO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16052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A4A5A"/>
                </a:solidFill>
                <a:latin typeface="Arial"/>
              </a:rPr>
              <a:t>44 atributos do Quadro 37 categorizados.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937760"/>
            <a:ext cx="457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E0261E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93776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  <a:latin typeface="Arial"/>
              </a:rPr>
              <a:t>Protocolo de avaliação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516636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A4A5A"/>
                </a:solidFill>
                <a:latin typeface="Arial"/>
              </a:rPr>
              <a:t>Rubrica híbrida 0/0,5/1 + Kappa.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1645920"/>
            <a:ext cx="5486400" cy="4572000"/>
          </a:xfrm>
          <a:prstGeom prst="rect">
            <a:avLst/>
          </a:prstGeom>
          <a:solidFill>
            <a:srgbClr val="F4F4F6"/>
          </a:solidFill>
          <a:ln w="9525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0" y="1645920"/>
            <a:ext cx="5486400" cy="7620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29400" y="1825920"/>
            <a:ext cx="5029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0261E"/>
                </a:solidFill>
                <a:latin typeface="Arial"/>
              </a:rPr>
              <a:t>PRÓXIMAS SEMANAS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219456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F3A6B"/>
                </a:solidFill>
                <a:latin typeface="Arial"/>
              </a:rPr>
              <a:t>O que vem agora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2926080"/>
            <a:ext cx="457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E0261E"/>
                </a:solidFill>
                <a:latin typeface="Arial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86600" y="292608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  <a:latin typeface="Arial"/>
              </a:rPr>
              <a:t>Sprint 2 (22 mai - 4 jun)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315468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A4A5A"/>
                </a:solidFill>
                <a:latin typeface="Arial"/>
              </a:rPr>
              <a:t>Cadastro · upload · auth · pipeline LLM nos 5 projetos.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3931920"/>
            <a:ext cx="457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E0261E"/>
                </a:solidFill>
                <a:latin typeface="Arial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39319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  <a:latin typeface="Arial"/>
              </a:rPr>
              <a:t>Gabaritos manuais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416052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A4A5A"/>
                </a:solidFill>
                <a:latin typeface="Arial"/>
              </a:rPr>
              <a:t>Valença piloto · depois Freire Batista e Kaka JJ.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4937760"/>
            <a:ext cx="457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E0261E"/>
                </a:solidFill>
                <a:latin typeface="Arial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493776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  <a:latin typeface="Arial"/>
              </a:rPr>
              <a:t>Status Report 2 (19/06)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86600" y="516636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A4A5A"/>
                </a:solidFill>
                <a:latin typeface="Arial"/>
              </a:rPr>
              <a:t>Dashboard + IA-Assistente operacionais.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649224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6B7A"/>
                </a:solidFill>
                <a:latin typeface="Arial"/>
              </a:rPr>
              <a:t>Equipe ObiOne · UPE/POLI · Maio 2026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00000" y="6492240"/>
            <a:ext cx="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6B7A"/>
                </a:solidFill>
                <a:latin typeface="Arial"/>
              </a:rPr>
              <a:t>7 /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up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00" y="228600"/>
            <a:ext cx="1066800" cy="8017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2286000"/>
            <a:ext cx="11000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0" b="1" i="0">
                <a:solidFill>
                  <a:srgbClr val="1F3A6B"/>
                </a:solidFill>
                <a:latin typeface="Arial"/>
              </a:rPr>
              <a:t>Obrigado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3429000"/>
            <a:ext cx="914400" cy="36576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566160"/>
            <a:ext cx="11000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1">
                <a:solidFill>
                  <a:srgbClr val="4A4A5A"/>
                </a:solidFill>
                <a:latin typeface="Arial"/>
              </a:rPr>
              <a:t>Discussão e perguntas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663440"/>
            <a:ext cx="1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6B7A"/>
                </a:solidFill>
                <a:latin typeface="Arial"/>
              </a:rPr>
              <a:t>Documentação completa disponível no repositório do projeto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892040"/>
            <a:ext cx="1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B6B7A"/>
                </a:solidFill>
                <a:latin typeface="Arial"/>
              </a:rPr>
              <a:t>github.com/raniel90/obione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080760"/>
            <a:ext cx="1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Equipe ObiOne  ·  UPE/POLI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09360"/>
            <a:ext cx="1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Professor: Prof. Ivaldir Honório de Farias Júnior  ·  Recife, Maio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457200" y="457200"/>
            <a:ext cx="1127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0261E"/>
                </a:solidFill>
                <a:latin typeface="Arial"/>
              </a:rPr>
              <a:t>O QUE É O OBIONE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0000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F3A6B"/>
                </a:solidFill>
                <a:latin typeface="Arial"/>
              </a:rPr>
              <a:t>Observatório-de-portfólio para consultoria de projetos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32560"/>
            <a:ext cx="685800" cy="36576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828800"/>
            <a:ext cx="5486400" cy="4114800"/>
          </a:xfrm>
          <a:prstGeom prst="rect">
            <a:avLst/>
          </a:prstGeom>
          <a:solidFill>
            <a:srgbClr val="F4F4F6"/>
          </a:solidFill>
          <a:ln w="9525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5029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0261E"/>
                </a:solidFill>
                <a:latin typeface="Arial"/>
              </a:rPr>
              <a:t>PARA QUEM E PARA QUÊ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F3A6B"/>
                </a:solidFill>
                <a:latin typeface="Arial"/>
              </a:rPr>
              <a:t>Consultoria · Clientes · Comunidade</a:t>
            </a:r>
          </a:p>
          <a:p>
            <a:pPr algn="l"/>
            <a:r>
              <a:rPr sz="800" b="0" i="0">
                <a:solidFill>
                  <a:srgbClr val="2C2C3E"/>
                </a:solidFill>
                <a:latin typeface="Arial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2C2C3E"/>
                </a:solidFill>
                <a:latin typeface="Arial"/>
              </a:rPr>
              <a:t>Consultoria: observa o portfólio como conhecimento estruturado, não como pasta de Drive.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2C2C3E"/>
                </a:solidFill>
                <a:latin typeface="Arial"/>
              </a:rPr>
              <a:t>Cliente: acompanha o próprio projeto em linguagem acessível, sem depender de reunião.</a:t>
            </a:r>
          </a:p>
          <a:p>
            <a:pPr algn="l"/>
            <a:r>
              <a:rPr sz="1300" b="0" i="1">
                <a:solidFill>
                  <a:srgbClr val="2C2C3E"/>
                </a:solidFill>
                <a:latin typeface="Arial"/>
              </a:rPr>
              <a:t>Comunidade vira ativo: comentários, comparativos cross-projeto, IA mantém o tecido vivo.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1828800"/>
            <a:ext cx="5486400" cy="4114800"/>
          </a:xfrm>
          <a:prstGeom prst="rect">
            <a:avLst/>
          </a:prstGeom>
          <a:solidFill>
            <a:srgbClr val="F4F4F6"/>
          </a:solidFill>
          <a:ln w="9525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9400" y="2057400"/>
            <a:ext cx="5029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0261E"/>
                </a:solidFill>
                <a:latin typeface="Arial"/>
              </a:rPr>
              <a:t>DIFERENCIAL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237744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F3A6B"/>
                </a:solidFill>
                <a:latin typeface="Arial"/>
              </a:rPr>
              <a:t>Combinação inédita em 3 vetores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3017520"/>
            <a:ext cx="150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E0261E"/>
                </a:solidFill>
                <a:latin typeface="Arial"/>
              </a:rPr>
              <a:t>vs. PM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0000" y="3048000"/>
            <a:ext cx="35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3A6B"/>
                </a:solidFill>
                <a:latin typeface="Arial"/>
              </a:rPr>
              <a:t>Jira, Trello: gerenciam tarefas e prazos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00000" y="3291840"/>
            <a:ext cx="35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A4A5A"/>
                </a:solidFill>
                <a:latin typeface="Arial"/>
              </a:rPr>
              <a:t>ObiOne observa o projeto como objeto (MPO · 44 atributos)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3703320"/>
            <a:ext cx="150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E0261E"/>
                </a:solidFill>
                <a:latin typeface="Arial"/>
              </a:rPr>
              <a:t>vs. BI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00000" y="3733800"/>
            <a:ext cx="35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3A6B"/>
                </a:solidFill>
                <a:latin typeface="Arial"/>
              </a:rPr>
              <a:t>Power BI, Looker: dashboards estáticos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00000" y="3977640"/>
            <a:ext cx="35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A4A5A"/>
                </a:solidFill>
                <a:latin typeface="Arial"/>
              </a:rPr>
              <a:t>ObiOne extrai significado de .docx com LLM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4389120"/>
            <a:ext cx="150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E0261E"/>
                </a:solidFill>
                <a:latin typeface="Arial"/>
              </a:rPr>
              <a:t>vs. acad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00000" y="4419600"/>
            <a:ext cx="35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3A6B"/>
                </a:solidFill>
                <a:latin typeface="Arial"/>
              </a:rPr>
              <a:t>OPTI-PE e similares: instrumentos de pesquisa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00000" y="4663440"/>
            <a:ext cx="35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A4A5A"/>
                </a:solidFill>
                <a:latin typeface="Arial"/>
              </a:rPr>
              <a:t>ObiOne é operacional: consultoria + clientes no dia-a-dia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6172200"/>
            <a:ext cx="1127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F3A6B"/>
                </a:solidFill>
                <a:latin typeface="Arial"/>
              </a:rPr>
              <a:t>Único a combinar observação MPO + extração com IA + comunidade ativa em uma só plataforma.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00000" y="3520520"/>
            <a:ext cx="3500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B6B7A"/>
                </a:solidFill>
                <a:latin typeface="Arial"/>
              </a:rPr>
              <a:t>Base: Quadro 37 (Vieira, 2022 · p. 264)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00000" y="4206320"/>
            <a:ext cx="3500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B6B7A"/>
                </a:solidFill>
                <a:latin typeface="Arial"/>
              </a:rPr>
              <a:t>Referência: OPTI-PE (Vieira, 2022 · Cap. 5)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00000" y="4892120"/>
            <a:ext cx="3500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B6B7A"/>
                </a:solidFill>
                <a:latin typeface="Arial"/>
              </a:rPr>
              <a:t>Análise: levantamento de ferramentas de mercado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649224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6B7A"/>
                </a:solidFill>
                <a:latin typeface="Arial"/>
              </a:rPr>
              <a:t>Equipe ObiOne · UPE/POLI · Maio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00000" y="6492240"/>
            <a:ext cx="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6B7A"/>
                </a:solidFill>
                <a:latin typeface="Arial"/>
              </a:rPr>
              <a:t>4 / 8</a:t>
            </a:r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00" y="228600"/>
            <a:ext cx="1066800" cy="8017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