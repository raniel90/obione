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75" r:id="rId14"/>
    <p:sldId id="264" r:id="rId15"/>
    <p:sldId id="276" r:id="rId13"/>
    <p:sldId id="277" r:id="rId16"/>
    <p:sldId id="278" r:id="rId17"/>
    <p:sldId id="279" r:id="rId18"/>
    <p:sldId id="270" r:id="rId21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3.xml"/><Relationship Id="rId13" Type="http://schemas.openxmlformats.org/officeDocument/2006/relationships/slide" Target="slides/slide9.xml"/><Relationship Id="rId14" Type="http://schemas.openxmlformats.org/officeDocument/2006/relationships/slide" Target="slides/slide8.xml"/><Relationship Id="rId15" Type="http://schemas.openxmlformats.org/officeDocument/2006/relationships/slide" Target="slides/slide4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1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~30s]</a:t>
            </a:r>
          </a:p>
          <a:p/>
          <a:p>
            <a:r>
              <a:t>Saudação inicial. Apresentar o grupo e a cadeira:</a:t>
            </a:r>
          </a:p>
          <a:p>
            <a:r>
              <a:t>"Somos Bruno, Cynthia, Moisés e Raniel, do grupo ObiOne, da cadeira Tópicos Avançados em Engenharia de Software, do prof. Ivaldir."</a:t>
            </a:r>
          </a:p>
          <a:p/>
          <a:p>
            <a:r>
              <a:t>Gancho: "Esse é o nosso Status Report 1. Vamos te mostrar o que é o ObiOne, o que vamos entregar até 10/07, e onde estamos agora — e adianto: estamos bem mais à frente do que o cronograma original previa."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~30s]</a:t>
            </a:r>
          </a:p>
          <a:p/>
          <a:p>
            <a:r>
              <a:t>Apresente o roteiro em 4 blocos sem detalhar:</a:t>
            </a:r>
          </a:p>
          <a:p>
            <a:r>
              <a:t>"Quatro partes: o contexto que motiva o projeto, o que vamos construir + os requisitos em detalhe, onde estamos hoje (incluindo o backend já entregue), e fechamos com o cronograma e os próximos passos."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~2min — slide-chave para criar tensão narrativa]</a:t>
            </a:r>
          </a:p>
          <a:p/>
          <a:p>
            <a:r>
              <a:t>CARD ESQUERDO — "Observatórios vs. ferramentas":</a:t>
            </a:r>
          </a:p>
          <a:p>
            <a:r>
              <a:t>"Observatório é MAIS que dashboard. É um espaço de conhecimento entre múltiplos atores — consultoria, clientes, pesquisa — mediado por interação contínua. Ferramentas de gestão como Jira ou planilhas só oferecem visualização de status. Falta o tecido social e a curadoria do conhecimento."</a:t>
            </a:r>
          </a:p>
          <a:p/>
          <a:p>
            <a:r>
              <a:t>TRANSIÇÃO para o card direito:</a:t>
            </a:r>
          </a:p>
          <a:p>
            <a:r>
              <a:t>"Se observatórios são tão valiosos, por que são raros na prática? Porque mantê-los vivos é CARO."</a:t>
            </a:r>
          </a:p>
          <a:p/>
          <a:p>
            <a:r>
              <a:t>CARD DIREITO — três fontes de fricção:</a:t>
            </a:r>
          </a:p>
          <a:p>
            <a:r>
              <a:t>1. Manual: ler .docx, estruturar, atualizar a curadoria de atributos</a:t>
            </a:r>
          </a:p>
          <a:p>
            <a:r>
              <a:t>2. Repetitivo: comunicar progresso ao cliente em linguagem acessível</a:t>
            </a:r>
          </a:p>
          <a:p>
            <a:r>
              <a:t>3. Custoso: manter engajamento da comunidade — responder, contextualizar</a:t>
            </a:r>
          </a:p>
          <a:p/>
          <a:p>
            <a:r>
              <a:t>FECHAMENTO: "Sem reduzir essa fricção, observatório fica restrito à teoria. É aí que entra a IA Generativa — e o ObiOne."</a:t>
            </a:r>
          </a:p>
          <a:p/>
          <a:p>
            <a:r>
              <a:t>Bases citadas: Vieira (2022) Cap. 5 (MPO); OPTI-PE como caso prático; Seção 6.4 sobre Trabalhos Futuros.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~3min — NÚCLEO ESTRATÉGICO da apresentação]</a:t>
            </a:r>
          </a:p>
          <a:p/>
          <a:p>
            <a:r>
              <a:t>CARD ESQUERDO — "O que é o ObiOne":</a:t>
            </a:r>
          </a:p>
          <a:p>
            <a:r>
              <a:t>Diga claramente: "O ObiOne é um observatório-de-portfólio para consultoria de projetos."</a:t>
            </a:r>
          </a:p>
          <a:p/>
          <a:p>
            <a:r>
              <a:t>PARA QUEM E PARA QUÊ — três audiências:</a:t>
            </a:r>
          </a:p>
          <a:p>
            <a:r>
              <a:t>- CONSULTORIA: observa o portfólio como conhecimento estruturado, não como pasta de Drive.</a:t>
            </a:r>
          </a:p>
          <a:p>
            <a:r>
              <a:t>- CLIENTE: acompanha o PRÓPRIO projeto em linguagem acessível, sem depender de reunião.</a:t>
            </a:r>
          </a:p>
          <a:p>
            <a:r>
              <a:t>- COMUNIDADE vira ativo: comentários, comparativos cross-projeto, IA mantém o tecido vivo.</a:t>
            </a:r>
          </a:p>
          <a:p/>
          <a:p>
            <a:r>
              <a:t>PAUSA — deixe assentar.</a:t>
            </a:r>
          </a:p>
          <a:p/>
          <a:p>
            <a:r>
              <a:t>CARD DIREITO — "Por que isso é diferente do que já existe? Combinação inédita em 3 vetores":</a:t>
            </a:r>
          </a:p>
          <a:p>
            <a:r>
              <a:t>- vs. PM (Jira, Trello, Asana): gerenciam tarefas e prazos. ObiOne OBSERVA o projeto como objeto de conhecimento, mapeando 44 atributos do MPO.</a:t>
            </a:r>
          </a:p>
          <a:p>
            <a:r>
              <a:t>- vs. BI (Power BI, Looker): mostram métricas. ObiOne extrai SIGNIFICADO de .docx com LLM.</a:t>
            </a:r>
          </a:p>
          <a:p>
            <a:r>
              <a:t>- vs. OBSERVATÓRIOS ACADÊMICOS (OPTI-PE): são instrumentos de pesquisa estáticos. ObiOne é OPERACIONAL — consultoria e clientes no dia-a-dia.</a:t>
            </a:r>
          </a:p>
          <a:p/>
          <a:p>
            <a:r>
              <a:t>FECHAMENTO: "Único a combinar observação MPO + extração com IA + comunidade ativa em uma só plataforma."</a:t>
            </a:r>
          </a:p>
          <a:p/>
          <a:p>
            <a:r>
              <a:t>Bases citadas: Quadro 37 do MPO (44 atributos); OPTI-PE (Vieira 2022 Cap. 5); levantamento de ferramentas de mercado.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~1.5min]</a:t>
            </a:r>
          </a:p>
          <a:p/>
          <a:p>
            <a:r>
              <a:t>Descer ao nível da execução:</a:t>
            </a:r>
          </a:p>
          <a:p>
            <a:r>
              <a:t>"Agora o como — escopo organizado em 5 grupos, 18 requisitos funcionais. Importante: o pipeline LLM já está comprovado — rodamos em 5/5 projetos do estudo com 46% de cobertura média em ~66s por documento."</a:t>
            </a:r>
          </a:p>
          <a:p/>
          <a:p>
            <a:r>
              <a:t>Aponte para cada grupo brevemente (NÃO leia tudo):</a:t>
            </a:r>
          </a:p>
          <a:p>
            <a:r>
              <a:t>- G1 PIPELINE LLM: extrai os 44 atributos via Llama 3.1 8B local. Smoke real feito.</a:t>
            </a:r>
          </a:p>
          <a:p>
            <a:r>
              <a:t>- G2 OBSERVAÇÃO: dashboard de cobertura — cliente vê apenas o seu projeto</a:t>
            </a:r>
          </a:p>
          <a:p>
            <a:r>
              <a:t>- G3 COMUNIDADE: auth, perfis semi-abertos, comentários e feed</a:t>
            </a:r>
          </a:p>
          <a:p>
            <a:r>
              <a:t>- G4 IA-ASSISTENTE: Resumo do Cliente (tradutora) + Drafts (redutora de fricção)</a:t>
            </a:r>
          </a:p>
          <a:p>
            <a:r>
              <a:t>- G5 AVALIAÇÃO: rubrica + Cohen's Kappa nos 3 projetos + Likert × 2 audiências</a:t>
            </a:r>
          </a:p>
          <a:p/>
          <a:p>
            <a:r>
              <a:t>TRANSIÇÃO: "Vou agora detalhar cada bloco de requisitos — começando pela Fundação e o Pipeline."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~1.5min]</a:t>
            </a:r>
          </a:p>
          <a:p/>
          <a:p>
            <a:r>
              <a:t>CARD por CARD — Fundação + Pipeline:</a:t>
            </a:r>
          </a:p>
          <a:p>
            <a:r>
              <a:t>- RF01 AUTENTICAR: JWT 24h, admin cria contas, sem cadastro público.</a:t>
            </a:r>
          </a:p>
          <a:p>
            <a:r>
              <a:t>- RF02 PERFIS: 3 papéis (consultor, cliente, admin). Acesso semi-aberto = característica MPO.</a:t>
            </a:r>
          </a:p>
          <a:p>
            <a:r>
              <a:t>- RF03 CADASTRO: 6 domínios suportados (legal, health, sports, branding, gastronomy, other).</a:t>
            </a:r>
          </a:p>
          <a:p>
            <a:r>
              <a:t>- RF04 UPLOAD .DOCX: sha256 + 50 MB max, rejeita duplicatas.</a:t>
            </a:r>
          </a:p>
          <a:p>
            <a:r>
              <a:t>- RF05 + RF06 EXTRAÇÃO: 44 atributos do Quadro 37, prompt e modelo registrados em cada extração.</a:t>
            </a:r>
          </a:p>
          <a:p/>
          <a:p>
            <a:r>
              <a:t>FECHAMENTO: "Os 6 requisitos da Fundação e do Pipeline estão TODOS implementados no backend."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~1.5min]</a:t>
            </a:r>
          </a:p>
          <a:p/>
          <a:p>
            <a:r>
              <a:t>CARD por CARD — Observação + Comunidade + IA:</a:t>
            </a:r>
          </a:p>
          <a:p>
            <a:r>
              <a:t>- RF07 + RF09 PORTFÓLIO: visão do consultor com status derivado e cobertura % do MPO.</a:t>
            </a:r>
          </a:p>
          <a:p>
            <a:r>
              <a:t>- RF08 DETALHE: view consolidado por projeto.</a:t>
            </a:r>
          </a:p>
          <a:p>
            <a:r>
              <a:t>- RF10 + RF11 DIÁLOGO: comentários com 1 nível de threading + feed in-app cronológico.</a:t>
            </a:r>
          </a:p>
          <a:p>
            <a:r>
              <a:t>- RF12 RESUMO DO CLIENTE: IA TRADUTORA — extração técnica vira narrativa acessível.</a:t>
            </a:r>
          </a:p>
          <a:p>
            <a:r>
              <a:t>- RF13 DRAFTS: IA REDUTORA DE FRICÇÃO — propõe próximos passos e pontos de atenção.</a:t>
            </a:r>
          </a:p>
          <a:p/>
          <a:p>
            <a:r>
              <a:t>ENFATIZE: "Toda saída da IA passa por revisão do consultor antes de virar pública. O cliente nunca vê draft."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~1.5min]</a:t>
            </a:r>
          </a:p>
          <a:p/>
          <a:p>
            <a:r>
              <a:t>CARD por CARD — Avaliação DSR:</a:t>
            </a:r>
          </a:p>
          <a:p>
            <a:r>
              <a:t>- RF14 GABARITO: backend já carrega; produção do gabarito é responsabilidade de Cynthia e Moisés.</a:t>
            </a:r>
          </a:p>
          <a:p>
            <a:r>
              <a:t>- RF15 COMPARAÇÃO: critério híbrido — comparação exata em estruturados + rubrica humana 0/0,5/1 em texto livre + Cohen's Kappa entre avaliadores.</a:t>
            </a:r>
          </a:p>
          <a:p>
            <a:r>
              <a:t>- RF16 LIKERT CONSULTORIA: 4 dimensões — utilidade dos drafts, fricção, qualidade do resumo, manutenibilidade.</a:t>
            </a:r>
          </a:p>
          <a:p>
            <a:r>
              <a:t>- RF17 LIKERT CLIENTES: 4 dimensões — clareza, utilidade do espaço, qualidade do diálogo, sentido de inclusão.</a:t>
            </a:r>
          </a:p>
          <a:p>
            <a:r>
              <a:t>- RF18 EXPORTAÇÃO: JSON bundle (research) + CSV long-format (rubrica).</a:t>
            </a:r>
          </a:p>
          <a:p/>
          <a:p>
            <a:r>
              <a:t>DESTAQUE: "Todo o backend de avaliação está pronto. Sprint 5 vira coleta humana — não código."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~1min]</a:t>
            </a:r>
          </a:p>
          <a:p/>
          <a:p>
            <a:r>
              <a:t>5 TEMAS por 9 RNFs:</a:t>
            </a:r>
          </a:p>
          <a:p>
            <a:r>
              <a:t>- SEGURANÇA &amp; LGPD (RNF01 + RNF02): auth obrigatório, criptografia em trânsito, logs de acesso.</a:t>
            </a:r>
          </a:p>
          <a:p>
            <a:r>
              <a:t>- REPRODUTIBILIDADE (RNF03 + RNF04): versão de prompt + modelo LLM registrados; schema JSON versionado.</a:t>
            </a:r>
          </a:p>
          <a:p>
            <a:r>
              <a:t>- PERFORMANCE (RNF05 + RNF06): extração ≤ 90s (medimos 46-79s) e REST ≤ 500ms p95.</a:t>
            </a:r>
          </a:p>
          <a:p>
            <a:r>
              <a:t>- USABILIDADE (RNF07): linguagem cidadã no Resumo do Cliente.</a:t>
            </a:r>
          </a:p>
          <a:p>
            <a:r>
              <a:t>- MANUTENIBILIDADE + CUSTO (RNF08 + RNF09): ports &amp; adapters arquitetural + Ollama local zero-cost.</a:t>
            </a:r>
          </a:p>
          <a:p/>
          <a:p>
            <a:r>
              <a:t>PONTE: "RNFs não viram US, mas todos estão endereçados arquiteturalmente. Vamos ao cronograma."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~1.5min]</a:t>
            </a:r>
          </a:p>
          <a:p/>
          <a:p>
            <a:r>
              <a:t>"São 9 semanas até 10/07, divididas em 4 marcos. Mas atenção: M1 e parte de M2 já estão atingidos antecipadamente."</a:t>
            </a:r>
          </a:p>
          <a:p/>
          <a:p>
            <a:r>
              <a:t>Percorra rapidamente os marcos:</a:t>
            </a:r>
          </a:p>
          <a:p>
            <a:r>
              <a:t>- M1 PREPARAÇÃO (22-28 mai · esta semana): atributos, protocolo, primeiros gabaritos. ✅ ATINGIDO.</a:t>
            </a:r>
          </a:p>
          <a:p>
            <a:r>
              <a:t>- M2 PIPELINE (29 mai - 11 jun): núcleo técnico. Cadastro + upload + auth + extração LLM nos 5 projetos. ✅ ATINGIDO (3 semanas antecipado).</a:t>
            </a:r>
          </a:p>
          <a:p>
            <a:r>
              <a:t>- M3 DASHBOARD + IA (12-25 jun): a comunidade ganha vida. Backend pronto; falta o frontend.</a:t>
            </a:r>
          </a:p>
          <a:p>
            <a:r>
              <a:t>- M4 AVALIAÇÃO (26 jun - 2 jul): fecha o ciclo DSR. Precisão, Recall, F1, Kappa, Likert × 2. Backend pronto; falta coleta humana.</a:t>
            </a:r>
          </a:p>
          <a:p/>
          <a:p>
            <a:r>
              <a:t>FECHAMENTO: "Escrita do relato de 3-9/07. Apresentação final em 10/07."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~1.5min]</a:t>
            </a:r>
          </a:p>
          <a:p/>
          <a:p>
            <a:r>
              <a:t>"Onde estamos AGORA e o que vem nas próximas semanas."</a:t>
            </a:r>
          </a:p>
          <a:p/>
          <a:p>
            <a:r>
              <a:t>CARD ESQUERDO — ESTÁ FEITO (Sprint 0 + Sprint 1 antecipada):</a:t>
            </a:r>
          </a:p>
          <a:p>
            <a:r>
              <a:t>1. REQUISITOS + PROTOCOLO: 18 RFs, 9 RNFs, rubrica híbrida 0/0,5/1 + Kappa.</a:t>
            </a:r>
          </a:p>
          <a:p>
            <a:r>
              <a:t>2. BACKEND MVP ENTREGUE: 18/18 USs implementadas. 287 testes verdes. CI rodando em cada PR.</a:t>
            </a:r>
          </a:p>
          <a:p>
            <a:r>
              <a:t>3. SMOKE REAL DO PIPELINE LLM: Llama 3.1 8B local em 5/5 projetos do estudo, 46% cobertura média.</a:t>
            </a:r>
          </a:p>
          <a:p/>
          <a:p>
            <a:r>
              <a:t>CARD DIREITO — PRÓXIMAS SEMANAS:</a:t>
            </a:r>
          </a:p>
          <a:p>
            <a:r>
              <a:t>4. FRONTEND + GABARITO (sprints 2-4): Bruno integra os 32 endpoints; Cynthia + Moisés produzem o gabarito de 3 projetos.</a:t>
            </a:r>
          </a:p>
          <a:p>
            <a:r>
              <a:t>5. SPRINT 5 DESTRAVADA: backend compara via /extractions/evaluation; falta a rubrica humana 0/0,5/1.</a:t>
            </a:r>
          </a:p>
          <a:p>
            <a:r>
              <a:t>6. STATUS REPORT 2 (19/06): frontend pronto, IA-Assistente em uso real, Likert lançado.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[Tempo: ~30s + perguntas]</a:t>
            </a:r>
          </a:p>
          <a:p/>
          <a:p>
            <a:r>
              <a:t>"Esse foi nosso Status Report 1. Documentação completa no repositório raniel90/obione — incluindo os 32 endpoints com request/response real (api_responses.md) e 5 diagramas Mermaid da arquitetura. Abrimos para perguntas."</a:t>
            </a:r>
          </a:p>
          <a:p/>
          <a:p>
            <a:r>
              <a:t>Antecipe perguntas prováveis (responda só se vierem):</a:t>
            </a:r>
          </a:p>
          <a:p>
            <a:r>
              <a:t>- "Como vão validar o LLM?" → rubrica híbrida + 2 avaliadores independentes + Kappa. Backend já compara estruturado.</a:t>
            </a:r>
          </a:p>
          <a:p>
            <a:r>
              <a:t>- "Quem são os clientes?" → consultoria parceira; 5 projetos reais de domínios distintos (jurídico, saúde, esporte, branding, fitoterápicos).</a:t>
            </a:r>
          </a:p>
          <a:p>
            <a:r>
              <a:t>- "E se a IA errar?" → IA gera DRAFT, consultor revisa antes de publicar. Cliente nunca vê não-revisado.</a:t>
            </a:r>
          </a:p>
          <a:p>
            <a:r>
              <a:t>- "Por que LLM e não regex/parser?" → heterogeneidade dos .docx; LLM lida com variação semântica. Comprovado em smoke.</a:t>
            </a:r>
          </a:p>
          <a:p>
            <a:r>
              <a:t>- "Por que 46% de cobertura?" → muitos atributos do MPO são genuinamente ausentes no documento. Sprint 5 quantifica via precisão/recall.</a:t>
            </a:r>
          </a:p>
          <a:p>
            <a:r>
              <a:t>- "Por que tão adiantado?" → IA generativa acelerou implementação; o trabalho intelectual (requisitos, arquitetura, protocolo) virou base sólida pra automação.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7200"/>
            <a:ext cx="1828800" cy="13743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OBIONE · STATUS REPORT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590800"/>
            <a:ext cx="11000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>
                <a:solidFill>
                  <a:srgbClr val="1F3A6B"/>
                </a:solidFill>
                <a:latin typeface="Arial"/>
              </a:rPr>
              <a:t>ObiOne · Observatório de Projetos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023360"/>
            <a:ext cx="1100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4A4A5A"/>
                </a:solidFill>
                <a:latin typeface="Arial"/>
              </a:rPr>
              <a:t>Apresentação à cadeira Tópicos Avançados em Engenharia de Software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663440"/>
            <a:ext cx="9144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8006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Equipe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029200"/>
            <a:ext cx="8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6B"/>
                </a:solidFill>
                <a:latin typeface="Arial"/>
              </a:rPr>
              <a:t>Bruno Rocha · Cynthia Oliveira · Moisés Júnior · Raniel Silva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4864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0261E"/>
                </a:solidFill>
                <a:latin typeface="Arial"/>
              </a:rPr>
              <a:t>Professor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715000"/>
            <a:ext cx="8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F3A6B"/>
                </a:solidFill>
                <a:latin typeface="Arial"/>
              </a:rPr>
              <a:t>Prof. Ivaldir Honório de Farias Júnior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0936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Universidade de Pernambuco · Escola Politécnica de Pernambuco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53796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6B7A"/>
                </a:solidFill>
                <a:latin typeface="Arial"/>
              </a:rPr>
              <a:t>Recife, Maio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STATUS REPORT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685800" cy="5486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7452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Contexto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336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5A"/>
                </a:solidFill>
                <a:latin typeface="Arial"/>
              </a:rPr>
              <a:t>Por que um observatório vivo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14600"/>
            <a:ext cx="685800" cy="5486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56032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O escopo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8194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5A"/>
                </a:solidFill>
                <a:latin typeface="Arial"/>
              </a:rPr>
              <a:t>O que vamos construir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200400"/>
            <a:ext cx="685800" cy="5486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0040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24612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Cronograma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052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5A"/>
                </a:solidFill>
                <a:latin typeface="Arial"/>
              </a:rPr>
              <a:t>9 semanas · 4 marcos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886200"/>
            <a:ext cx="685800" cy="5486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8620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93192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Status atual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9100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4A5A"/>
                </a:solidFill>
                <a:latin typeface="Arial"/>
              </a:rPr>
              <a:t>Onde estamos e o que vem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Equipe ObiOne · UPE/POLI · Maio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Observatório é mais que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5486400" cy="411480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502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OBSERVATÓRIOS VS. FERRAMENTAS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3A6B"/>
                </a:solidFill>
                <a:latin typeface="Arial"/>
              </a:rPr>
              <a:t>Comunidade ativa de múltiplos atores</a:t>
            </a:r>
          </a:p>
          <a:p>
            <a:pPr algn="l"/>
            <a:r>
              <a:rPr sz="800" b="0" i="0">
                <a:solidFill>
                  <a:srgbClr val="2C2C3E"/>
                </a:solidFill>
                <a:latin typeface="Arial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C2C3E"/>
                </a:solidFill>
                <a:latin typeface="Arial"/>
              </a:rPr>
              <a:t>Um observatório é espaço de conhecimento entre consultoria, clientes e pesquisa, mediado por interação contínua.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C2C3E"/>
                </a:solidFill>
                <a:latin typeface="Arial"/>
              </a:rPr>
              <a:t>Ferramentas de gestão oferecem visualização do status. Faltam o tecido social e a curadoria do conhecimento.</a:t>
            </a:r>
          </a:p>
          <a:p>
            <a:pPr algn="l"/>
            <a:r>
              <a:rPr sz="1300" b="0" i="1">
                <a:solidFill>
                  <a:srgbClr val="2C2C3E"/>
                </a:solidFill>
                <a:latin typeface="Arial"/>
              </a:rPr>
              <a:t>Resultado: observatórios reais são raros porque mantê-los vivos custa caro.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828800"/>
            <a:ext cx="5486400" cy="411480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057400"/>
            <a:ext cx="502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POR QUE É CARO?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377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3A6B"/>
                </a:solidFill>
                <a:latin typeface="Arial"/>
              </a:rPr>
              <a:t>Três fontes de fricção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017520"/>
            <a:ext cx="15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0261E"/>
                </a:solidFill>
                <a:latin typeface="Arial"/>
              </a:rPr>
              <a:t>Manual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0000" y="3048000"/>
            <a:ext cx="3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  <a:latin typeface="Arial"/>
              </a:rPr>
              <a:t>curadoria de atributos do projeto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0000" y="3291840"/>
            <a:ext cx="3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ler documentos, estruturar, atualizar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703320"/>
            <a:ext cx="15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0261E"/>
                </a:solidFill>
                <a:latin typeface="Arial"/>
              </a:rPr>
              <a:t>Repetitivo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0000" y="3733800"/>
            <a:ext cx="3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  <a:latin typeface="Arial"/>
              </a:rPr>
              <a:t>comunicar progresso aos clientes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0000" y="3977640"/>
            <a:ext cx="3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traduzir técnico em narrativa acessível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389120"/>
            <a:ext cx="15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0261E"/>
                </a:solidFill>
                <a:latin typeface="Arial"/>
              </a:rPr>
              <a:t>Custoso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0000" y="4419600"/>
            <a:ext cx="3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  <a:latin typeface="Arial"/>
              </a:rPr>
              <a:t>manter engajamento da comunidade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0000" y="4663440"/>
            <a:ext cx="3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responder, contextualizar, sugerir próximos passos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172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3A6B"/>
                </a:solidFill>
                <a:latin typeface="Arial"/>
              </a:rPr>
              <a:t>Sem reduzir essa fricção, o observatório fica restrito à teoria. É aí que entra a IA Generativa.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0000" y="3520520"/>
            <a:ext cx="3500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6B7A"/>
                </a:solidFill>
                <a:latin typeface="Arial"/>
              </a:rPr>
              <a:t>Fonte: Vieira (2022) · Cap. 5 (MPO)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0000" y="4206320"/>
            <a:ext cx="3500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6B7A"/>
                </a:solidFill>
                <a:latin typeface="Arial"/>
              </a:rPr>
              <a:t>Fonte: OPTI-PE como caso prático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0000" y="4892120"/>
            <a:ext cx="3500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6B7A"/>
                </a:solidFill>
                <a:latin typeface="Arial"/>
              </a:rPr>
              <a:t>Fonte: Vieira (2022) · Seção 6.4 · Trabalhos Futuros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Equipe ObiOne · UPE/POLI · Maio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ESCOPO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5 grupos · 18 requisitos funcionais · smoke real Ollama em 5/5 docs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82880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92024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Pipeline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24028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Extração dos 44 atributos via Llama 3.1 8B. Smoke em 5/5 projetos · 46% cobertura média em ~66s/doc.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9748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69748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278892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Observação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10896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Dashboard com cobertura do MPO. Cliente vê apenas o seu projeto.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56616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6616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56616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65760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Comunidade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97764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Auth, perfis semi-abertos, comentários e feed in-app.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43484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3484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443484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452628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IA-Assistente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84632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Resumo do projeto (tradutora) + drafts assistidos (redutora de fricção).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30352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30352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530352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539496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Avaliação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71500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Precisão · recall · F1 · Kappa em 3 projetos + Likert × 2 audiências.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Equipe ObiOne · UPE/POLI · Maio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5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CRONOGRAMA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9 semanas restantes · 4 marcos · entrega 10/07/2026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5800" y="1554480"/>
            <a:ext cx="266700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85800" y="1554480"/>
            <a:ext cx="2667000" cy="6858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8680" y="164592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M1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" y="1874520"/>
            <a:ext cx="23012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PREPARAÇÃO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" y="235458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DURAÇÃO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" y="2606040"/>
            <a:ext cx="23012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Arial"/>
              </a:rPr>
              <a:t>22-28 mai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" y="310896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ESCOPO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" y="338328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Atributos-alvo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" y="36576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+ Protocolo de avaliação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80" y="393192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+ Início dos gabaritos (3 projetos)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" y="425196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JUSTIFICATIVA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" y="4480560"/>
            <a:ext cx="2301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4A5A"/>
                </a:solidFill>
                <a:latin typeface="Arial"/>
              </a:rPr>
              <a:t>Destrava todo o Sprint 1.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8680" y="4983480"/>
            <a:ext cx="2301240" cy="12192"/>
          </a:xfrm>
          <a:prstGeom prst="rect">
            <a:avLst/>
          </a:prstGeom>
          <a:solidFill>
            <a:srgbClr val="D4D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8680" y="50292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ENTREGÁVEL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" y="52578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Arial"/>
              </a:rPr>
              <a:t>Status Report 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05200" y="1554480"/>
            <a:ext cx="266700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505200" y="1554480"/>
            <a:ext cx="2667000" cy="68580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88080" y="164592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M2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88080" y="1874520"/>
            <a:ext cx="23012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PIPELINE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88080" y="235458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DURAÇÃO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88080" y="2606040"/>
            <a:ext cx="23012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Arial"/>
              </a:rPr>
              <a:t>29 mai - 11 jun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88080" y="310896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ESCOPO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88080" y="338328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Cadastro · upload · auth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88080" y="36576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+ Pipeline LLM nos 5 projetos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88080" y="425196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JUSTIFICATIVA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688080" y="4480560"/>
            <a:ext cx="2301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4A5A"/>
                </a:solidFill>
                <a:latin typeface="Arial"/>
              </a:rPr>
              <a:t>Núcleo técnico da extração de atributos.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688080" y="4983480"/>
            <a:ext cx="2301240" cy="12192"/>
          </a:xfrm>
          <a:prstGeom prst="rect">
            <a:avLst/>
          </a:prstGeom>
          <a:solidFill>
            <a:srgbClr val="D4D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88080" y="50292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ENTREGÁVEL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688080" y="52578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Arial"/>
              </a:rPr>
              <a:t>5 JSONs persistidos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324600" y="1554480"/>
            <a:ext cx="266700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24600" y="1554480"/>
            <a:ext cx="2667000" cy="685800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507480" y="164592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M3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07480" y="1874520"/>
            <a:ext cx="23012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DASHBOARD + IA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507480" y="235458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DURAÇÃO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507480" y="2606040"/>
            <a:ext cx="23012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Arial"/>
              </a:rPr>
              <a:t>12-25 jun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07480" y="310896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ESCOPO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07480" y="338328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Cobertura · perfis · comentários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07480" y="36576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+ Resumo Cliente (IA)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07480" y="393192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+ Drafts assistidos (IA)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07480" y="425196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JUSTIFICATIVA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07480" y="4480560"/>
            <a:ext cx="2301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4A5A"/>
                </a:solidFill>
                <a:latin typeface="Arial"/>
              </a:rPr>
              <a:t>Onde a comunidade vive.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507480" y="4983480"/>
            <a:ext cx="2301240" cy="12192"/>
          </a:xfrm>
          <a:prstGeom prst="rect">
            <a:avLst/>
          </a:prstGeom>
          <a:solidFill>
            <a:srgbClr val="D4D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507480" y="50292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ENTREGÁVEL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507480" y="52578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Arial"/>
              </a:rPr>
              <a:t>Status Report 2 (19/06)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144000" y="1554480"/>
            <a:ext cx="266700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144000" y="1554480"/>
            <a:ext cx="2667000" cy="685800"/>
          </a:xfrm>
          <a:prstGeom prst="rect">
            <a:avLst/>
          </a:prstGeom>
          <a:solidFill>
            <a:srgbClr val="16A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326880" y="164592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M4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326880" y="1874520"/>
            <a:ext cx="23012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AVALIAÇÃO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326880" y="235458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DURAÇÃO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326880" y="2606040"/>
            <a:ext cx="230124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  <a:latin typeface="Arial"/>
              </a:rPr>
              <a:t>26 jun - 2 jul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326880" y="310896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ESCOPO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326880" y="338328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Precisão · Recall · F1 · Kappa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326880" y="36576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+ Likert × 2 audiências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326880" y="393192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2C2C3E"/>
                </a:solidFill>
                <a:latin typeface="Arial"/>
              </a:rPr>
              <a:t>+ Exportação consolidada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326880" y="425196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JUSTIFICATIVA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326880" y="4480560"/>
            <a:ext cx="2301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4A5A"/>
                </a:solidFill>
                <a:latin typeface="Arial"/>
              </a:rPr>
              <a:t>Fecha o ciclo DSR.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326880" y="4983480"/>
            <a:ext cx="2301240" cy="12192"/>
          </a:xfrm>
          <a:prstGeom prst="rect">
            <a:avLst/>
          </a:prstGeom>
          <a:solidFill>
            <a:srgbClr val="D4D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326880" y="50292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0261E"/>
                </a:solidFill>
                <a:latin typeface="Arial"/>
              </a:rPr>
              <a:t>ENTREGÁVEL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326880" y="5257800"/>
            <a:ext cx="2301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Arial"/>
              </a:rPr>
              <a:t>Relato + Apresentação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85800" y="5577840"/>
            <a:ext cx="6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  <a:latin typeface="Arial"/>
              </a:rPr>
              <a:t>Escrita do relato: 3-9 jul · Apresentação final: 10/07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Equipe ObiOne · UPE/POLI · Maio 2026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10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ONDE ESTAMOS · O QUE VEM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Status atual e próximas semanas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5486400" cy="76200"/>
          </a:xfrm>
          <a:prstGeom prst="rect">
            <a:avLst/>
          </a:prstGeom>
          <a:solidFill>
            <a:srgbClr val="16A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5920"/>
            <a:ext cx="502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6A05C"/>
                </a:solidFill>
                <a:latin typeface="Arial"/>
              </a:rPr>
              <a:t>ESTÁ FEITO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Sprint 0 + Sprint 1 antecipada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45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0261E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260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Arial"/>
              </a:rPr>
              <a:t>Requisitos + protocolo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1546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18 RFs + 9 RNFs + rubrica híbrida 0/0,5/1 + Kappa.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45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0261E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319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Arial"/>
              </a:rPr>
              <a:t>Backend MVP entregue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1605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18/18 USs · 287 testes · 32 endpoints · 8 migrations · CI rodando.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37760"/>
            <a:ext cx="45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0261E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9377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Arial"/>
              </a:rPr>
              <a:t>Smoke real do pipeline 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1663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Llama 3.1 8B local em 5/5 projetos · 46% cobertura média.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645920"/>
            <a:ext cx="5486400" cy="457200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645920"/>
            <a:ext cx="5486400" cy="7620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1825920"/>
            <a:ext cx="502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PRÓXIMAS SEMANAS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194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3A6B"/>
                </a:solidFill>
                <a:latin typeface="Arial"/>
              </a:rPr>
              <a:t>O que vem agora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926080"/>
            <a:ext cx="45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0261E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29260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Arial"/>
              </a:rPr>
              <a:t>Frontend e gabarito (sprints 2-4)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1546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Bruno integra os 32 endpoints. Cynthia + Moisés produzem o gabarito manual.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931920"/>
            <a:ext cx="45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0261E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9319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Arial"/>
              </a:rPr>
              <a:t>Sprint 5 destravada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1605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Backend compara via /extractions/evaluation · rubrica humana + Kappa.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937760"/>
            <a:ext cx="457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0261E"/>
                </a:solidFill>
                <a:latin typeface="Arial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9377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Arial"/>
              </a:rPr>
              <a:t>Status Report 2 (19/06)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51663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Frontend pronto · IA-Assistente em uso real · Likert lançado.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Equipe ObiOne · UPE/POLI · Maio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11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p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1000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1F3A6B"/>
                </a:solidFill>
                <a:latin typeface="Arial"/>
              </a:rPr>
              <a:t>Obrigado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429000"/>
            <a:ext cx="9144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566160"/>
            <a:ext cx="1100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4A4A5A"/>
                </a:solidFill>
                <a:latin typeface="Arial"/>
              </a:rPr>
              <a:t>Discussão e perguntas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66344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7A"/>
                </a:solidFill>
                <a:latin typeface="Arial"/>
              </a:rPr>
              <a:t>Documentação completa disponível no repositório do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9204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6B7A"/>
                </a:solidFill>
                <a:latin typeface="Arial"/>
              </a:rPr>
              <a:t>github.com/raniel90/obione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08076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Equipe ObiOne  ·  UPE/POLI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09360"/>
            <a:ext cx="1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Professor: Prof. Ivaldir Honório de Farias Júnior  ·  Recife, Maio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O QUE É O OBIONE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Observatório-de-portfólio para consultoria de projetos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5486400" cy="411480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502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PARA QUEM E PARA QUÊ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3A6B"/>
                </a:solidFill>
                <a:latin typeface="Arial"/>
              </a:rPr>
              <a:t>Consultoria · Clientes · Comunidade</a:t>
            </a:r>
          </a:p>
          <a:p>
            <a:pPr algn="l"/>
            <a:r>
              <a:rPr sz="800" b="0" i="0">
                <a:solidFill>
                  <a:srgbClr val="2C2C3E"/>
                </a:solidFill>
                <a:latin typeface="Arial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C2C3E"/>
                </a:solidFill>
                <a:latin typeface="Arial"/>
              </a:rPr>
              <a:t>Consultoria: observa o portfólio como conhecimento estruturado, não como pasta de Drive.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C2C3E"/>
                </a:solidFill>
                <a:latin typeface="Arial"/>
              </a:rPr>
              <a:t>Cliente: acompanha o próprio projeto em linguagem acessível, sem depender de reunião.</a:t>
            </a:r>
          </a:p>
          <a:p>
            <a:pPr algn="l"/>
            <a:r>
              <a:rPr sz="1300" b="0" i="1">
                <a:solidFill>
                  <a:srgbClr val="2C2C3E"/>
                </a:solidFill>
                <a:latin typeface="Arial"/>
              </a:rPr>
              <a:t>Comunidade vira ativo: comentários, comparativos cross-projeto, IA mantém o tecido vivo.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828800"/>
            <a:ext cx="5486400" cy="411480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057400"/>
            <a:ext cx="5029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DIFERENCIAL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377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3A6B"/>
                </a:solidFill>
                <a:latin typeface="Arial"/>
              </a:rPr>
              <a:t>Combinação inédita em 3 vetores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017520"/>
            <a:ext cx="15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0261E"/>
                </a:solidFill>
                <a:latin typeface="Arial"/>
              </a:rPr>
              <a:t>vs. PM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0000" y="3048000"/>
            <a:ext cx="3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  <a:latin typeface="Arial"/>
              </a:rPr>
              <a:t>Jira, Trello: gerenciam tarefas e prazos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0000" y="3291840"/>
            <a:ext cx="3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ObiOne observa o projeto como objeto (MPO · 44 atributos)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703320"/>
            <a:ext cx="15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0261E"/>
                </a:solidFill>
                <a:latin typeface="Arial"/>
              </a:rPr>
              <a:t>vs. 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0000" y="3733800"/>
            <a:ext cx="3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  <a:latin typeface="Arial"/>
              </a:rPr>
              <a:t>Power BI, Looker: dashboards estáticos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0000" y="3977640"/>
            <a:ext cx="3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ObiOne extrai significado de .docx com LLM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389120"/>
            <a:ext cx="15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E0261E"/>
                </a:solidFill>
                <a:latin typeface="Arial"/>
              </a:rPr>
              <a:t>vs. acad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0000" y="4419600"/>
            <a:ext cx="35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3A6B"/>
                </a:solidFill>
                <a:latin typeface="Arial"/>
              </a:rPr>
              <a:t>OPTI-PE e similares: instrumentos de pesquisa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0000" y="4663440"/>
            <a:ext cx="35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Arial"/>
              </a:rPr>
              <a:t>ObiOne é operacional: consultoria + clientes no dia-a-dia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172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F3A6B"/>
                </a:solidFill>
                <a:latin typeface="Arial"/>
              </a:rPr>
              <a:t>Único a combinar observação MPO + extração com IA + comunidade ativa em uma só plataforma.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0000" y="3520520"/>
            <a:ext cx="3500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6B7A"/>
                </a:solidFill>
                <a:latin typeface="Arial"/>
              </a:rPr>
              <a:t>Base: Quadro 37 (Vieira, 2022 · p. 264)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0000" y="4206320"/>
            <a:ext cx="3500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6B7A"/>
                </a:solidFill>
                <a:latin typeface="Arial"/>
              </a:rPr>
              <a:t>Referência: OPTI-PE (Vieira, 2022 · Cap. 5)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0000" y="4892120"/>
            <a:ext cx="3500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6B7A"/>
                </a:solidFill>
                <a:latin typeface="Arial"/>
              </a:rPr>
              <a:t>Análise: levantamento de ferramentas de mercado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Equipe ObiOne · UPE/POLI · Maio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4 / 12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REQUISITOS · FUNDAÇÃO +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6 requisitos funcionais · sprints 2 e 3 · todos implementados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82880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92024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RF01 · Autenticar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24028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JWT com expiração de 24h. Admin cria usuários; sem cadastro público.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9748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69748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278892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RF02 · Perfis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10896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Consultor, cliente, admin. Acesso semi-aberto materializa o modelo do MPO.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56616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6616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56616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65760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RF03 · Cadastro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97764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Projeto com nome, domínio (legal/health/sports/branding/gastronomy/other), descrição.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43484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3484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443484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452628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RF04 · Upload .docx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84632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Multipart com validação MIME + sha256 + limite de 50 MB. Rejeita duplicatas.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30352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30352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530352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539496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RF05 + RF06 · Extração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71500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44 atributos do Quadro 37 via LLM. Persistência com prompt + modelo registrados.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Equipe ObiOne · UPE/POLI · Maio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6 / 12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REQUISITOS · OBSERVAÇÃO + COMUNIDADE +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7 requisitos funcionais · sprints 3 e 4 · todos implementados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82880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92024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RF07 + RF09 · Portfólio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24028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Visão do consultor com status derivado e cobertura % do MPO por projeto.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9748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69748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278892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RF08 · Detalhe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10896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View consolidado: documentos, extrações, cobertura, comentários recentes.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56616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6616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56616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65760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RF10 + RF11 · Diálogo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97764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Comentários com 1 nível de threading. Feed in-app cronológico por visibilidade.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43484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3484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443484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452628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RF12 · Resumo Cliente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84632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IA tradutora: extração técnica vira narrativa acessível. Sempre revisada pelo consultor.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30352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30352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530352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539496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RF13 · Drafts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71500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IA redutora de fricção: próximos passos e pontos de atenção. Consultor edita e publica.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Equipe ObiOne · UPE/POLI · Maio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7 / 12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REQUISITOS · AVALIAÇÃO DSR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5 requisitos funcionais · sprint 5 · backend pronto · coleta humana pendente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82880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92024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RF14 · Gabarito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24028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Importação de gabarito manual validado contra o schema JSON dos 44 atributos.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9748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69748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278892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RF15 · Comparação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10896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Critério híbrido: comparação exata (estruturado) + rubrica humana 0/0,5/1 + índice de concordância.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56616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6616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56616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65760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RF16 · Likert Consultoria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97764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4 dimensões: utilidade dos drafts, fricção, qualidade do resumo, manutenibilidade.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43484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3484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443484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452628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RF17 · Likert Clientes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84632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4 dimensões: clareza do resumo, utilidade do espaço, qualidade do diálogo, inclusão.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30352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30352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530352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539496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RF18 · Exportação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71500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Bundle JSON (research) + CSV long-format (rubrica). Subsidia o relato de experiência.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Equipe ObiOne · UPE/POLI · Maio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8 / 12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457200"/>
            <a:ext cx="1127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0261E"/>
                </a:solidFill>
                <a:latin typeface="Arial"/>
              </a:rPr>
              <a:t>REQUISITOS NÃO-FUNCIONAIS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000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F3A6B"/>
                </a:solidFill>
                <a:latin typeface="Arial"/>
              </a:rPr>
              <a:t>9 RNFs organizados por tema · todos endereçados arquiteturalmente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32560"/>
            <a:ext cx="685800" cy="36576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82880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92024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Segurança &amp; LGPD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24028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RNF01 · auth obrigatório em todas as rotas · RNF02 · NDA + criptografia + logs de acesso.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69748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69748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278892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Reprodutibilidade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10896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RNF03 · versão do prompt e modelo LLM registrados · RNF04 · schema JSON versionado v1.0.0.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56616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6616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56616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365760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97764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RNF05 · extração LLM ≤ 90s/doc (medido 46-79s) · RNF06 · endpoints REST ≤ 500ms p95.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43484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3484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443484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452628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Usabilidade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84632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RNF07 · linguagem cidadã no Resumo do Cliente · sem jargão técnico · revisão obrigatória.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303520"/>
            <a:ext cx="685800" cy="82296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303520"/>
            <a:ext cx="685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G5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5303520"/>
            <a:ext cx="10500000" cy="822960"/>
          </a:xfrm>
          <a:prstGeom prst="rect">
            <a:avLst/>
          </a:prstGeom>
          <a:solidFill>
            <a:srgbClr val="F4F4F6"/>
          </a:solidFill>
          <a:ln w="9525">
            <a:solidFill>
              <a:srgbClr val="D4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5394960"/>
            <a:ext cx="10000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3A6B"/>
                </a:solidFill>
                <a:latin typeface="Arial"/>
              </a:rPr>
              <a:t>Manutenibilidade &amp; Custo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715000"/>
            <a:ext cx="10000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Arial"/>
              </a:rPr>
              <a:t>RNF08 · ports &amp; adapters (LLM, storage) · RNF09 · Ollama local como default zero-cost.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6400800"/>
            <a:ext cx="11277600" cy="15240"/>
          </a:xfrm>
          <a:prstGeom prst="rect">
            <a:avLst/>
          </a:prstGeom>
          <a:solidFill>
            <a:srgbClr val="E02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8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B6B7A"/>
                </a:solidFill>
                <a:latin typeface="Arial"/>
              </a:rPr>
              <a:t>Equipe ObiOne · UPE/POLI · Maio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0000" y="6492240"/>
            <a:ext cx="100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B6B7A"/>
                </a:solidFill>
                <a:latin typeface="Arial"/>
              </a:rPr>
              <a:t>9 / 12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000" y="228600"/>
            <a:ext cx="1066800" cy="8017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