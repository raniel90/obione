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75" r:id="rId14"/>
    <p:sldId id="264" r:id="rId15"/>
    <p:sldId id="276" r:id="rId13"/>
    <p:sldId id="277" r:id="rId16"/>
    <p:sldId id="278" r:id="rId17"/>
    <p:sldId id="279" r:id="rId18"/>
    <p:sldId id="270" r:id="rId21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3.xml"/><Relationship Id="rId13" Type="http://schemas.openxmlformats.org/officeDocument/2006/relationships/slide" Target="slides/slide9.xml"/><Relationship Id="rId14" Type="http://schemas.openxmlformats.org/officeDocument/2006/relationships/slide" Target="slides/slide8.xml"/><Relationship Id="rId15" Type="http://schemas.openxmlformats.org/officeDocument/2006/relationships/slide" Target="slides/slide4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1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1828800" cy="1374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OBIONE · STATUS REPORT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800"/>
            <a:ext cx="1100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600" b="1">
                <a:solidFill>
                  <a:srgbClr val="1F3A6B"/>
                </a:solidFill>
                <a:latin typeface="Arial"/>
              </a:rPr>
              <a:t>ObiOne · Observatório de Projetos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A"/>
                </a:solidFill>
                <a:latin typeface="Arial"/>
              </a:rPr>
              <a:t>Apresentação à cadeira Tópicos Avançados em Engenharia de Software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6344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00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Bruno Rocha · Cynthia Oliveira · Moisés Júnior · Raniel Silva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Professor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Prof. Ivaldir Honório de Farias Júnior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Universidade de Pernambuco · Escola Politécnica de Pernambuco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379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6B7A"/>
                </a:solidFill>
                <a:latin typeface="Arial"/>
              </a:rPr>
              <a:t>Recife,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STATUS REPORT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745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33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Por que um observatório vivo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escopo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819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 que vamos construir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2461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Cronograma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052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9 semanas · 4 marcos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Status atual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910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Onde estamos e o que vem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Observatório é mais que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OBSERVATÓRIOS VS. FERRAMENTAS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Comunidade ativa de múltiplos atores</a:t>
            </a:r>
          </a:p>
          <a:p>
            <a:pPr algn="l"/>
            <a:r>
              <a:rPr sz="800" b="0" i="0">
                <a:solidFill>
                  <a:srgbClr val="2C2C3E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Um observatório é espaço de conhecimento entre consultoria, clientes e pesquisa, mediado por interação contínua.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Ferramentas de gestão oferecem visualização do status. Faltam o tecido social e a curadoria do conhecimento.</a:t>
            </a:r>
          </a:p>
          <a:p>
            <a:pPr algn="l"/>
            <a:r>
              <a:rPr sz="1300" b="0" i="1">
                <a:solidFill>
                  <a:srgbClr val="2C2C3E"/>
                </a:solidFill>
                <a:latin typeface="Arial"/>
              </a:rPr>
              <a:t>Resultado: observatórios reais são raros porque mantê-los vivos custa caro.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POR QUE É CARO?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Três fontes de fricção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0175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0480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curadoria de atributos do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0000" y="32918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ler documentos, estruturar, atualizar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7033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Repetitivo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0000" y="37338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comunicar progresso aos clientes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776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traduzir técnico em narrativa acessível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891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Custoso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0000" y="44196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manter engajamento da comunidade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0000" y="46634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responder, contextualizar, sugerir próximos passos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172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3A6B"/>
                </a:solidFill>
                <a:latin typeface="Arial"/>
              </a:rPr>
              <a:t>Sem reduzir essa fricção, o observatório fica restrito à teoria. É aí que entra a IA Generativa.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0" y="35205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Vieira (2022) · Cap. 5 (MPO)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0" y="42063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OPTI-PE como caso prático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000" y="48921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Vieira (2022) · Seção 6.4 · Trabalhos Futuros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5 grupos · 18 requisitos funcionais · smoke real Ollama em 5/5 docs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Pipeline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Extração dos 44 atributos via Llama 3.1 8B. Smoke em 5/5 projetos · 46% cobertura média em ~66s/doc.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Observação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Dashboard com cobertura do MPO. Cliente vê apenas o seu projeto.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Auth, perfis semi-abertos, comentários e feed in-app.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IA-Assistente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Resumo do projeto (tradutora) + drafts assistidos (redutora de fricção).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Avaliação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Precisão · recall · F1 · Kappa em 3 projetos + Likert × 2 audiências.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5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CRONOGRAMA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9 semanas restantes · 4 marcos · entrega 10/07/2026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58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5800" y="1554480"/>
            <a:ext cx="2667000" cy="685800"/>
          </a:xfrm>
          <a:prstGeom prst="rect">
            <a:avLst/>
          </a:prstGeom>
          <a:solidFill>
            <a:srgbClr val="1F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86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PREPARAÇÃO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22-28 mai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Atributos-alvo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Protocolo de avaliação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Início dos gabaritos (3 projetos)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86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Destrava todo o Sprint 1.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86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Status Report 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052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05200" y="1554480"/>
            <a:ext cx="2667000" cy="6858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880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880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PIPELINE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880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29 mai - 11 jun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880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880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Cadastro · upload · auth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880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Pipeline LLM nos 5 projetos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880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880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Núcleo técnico da extração de atributos.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880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880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880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5 JSONs persistidos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46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24600" y="1554480"/>
            <a:ext cx="2667000" cy="685800"/>
          </a:xfrm>
          <a:prstGeom prst="rect">
            <a:avLst/>
          </a:prstGeom>
          <a:solidFill>
            <a:srgbClr val="1F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5074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074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DASHBOARD + IA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074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074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12-25 jun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074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074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Cobertura · perfis · comentários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074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Resumo Cliente (IA)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074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Drafts assistidos (IA)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074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074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Onde a comunidade vive.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074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5074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074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Status Report 2 (19/06)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1440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0" y="1554480"/>
            <a:ext cx="2667000" cy="685800"/>
          </a:xfrm>
          <a:prstGeom prst="rect">
            <a:avLst/>
          </a:prstGeom>
          <a:solidFill>
            <a:srgbClr val="16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3268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268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AVALIAÇÃO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3268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268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26 jun - 2 jul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268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Precisão · Recall · F1 · Kappa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268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Likert × 2 audiências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268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Exportação consolidada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268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268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Fecha o ciclo DSR.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3268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268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268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Relato + Apresentação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5577840"/>
            <a:ext cx="6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Escrita do relato: 3-9 jul · Apresentação final: 10/07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ONDE ESTAMOS · O QUE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Status atual e próximas semanas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486400" cy="45720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5486400" cy="76200"/>
          </a:xfrm>
          <a:prstGeom prst="rect">
            <a:avLst/>
          </a:prstGeom>
          <a:solidFill>
            <a:srgbClr val="16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592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A05C"/>
                </a:solidFill>
                <a:latin typeface="Arial"/>
              </a:rPr>
              <a:t>ESTÁ FEITO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Sprint 0 + Sprint 1 antecipada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926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Requisitos + protocolo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18 RFs + 9 RNFs + rubrica híbrida 0/0,5/1 + Kappa.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Backend MVP entregue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18/18 USs · 287 testes · 32 endpoints · 8 migrations · CI rodando.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3776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Smoke real do pipeline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166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Llama 3.1 8B local em 5/5 projetos · 46% cobertura média.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45920"/>
            <a:ext cx="5486400" cy="45720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645920"/>
            <a:ext cx="5486400" cy="762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82592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PRÓXIMAS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que vem agora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92608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926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Frontend e gabarito (sprints 2-4)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Bruno integra os 32 endpoints. Cynthia + Moisés produzem o gabarito manual.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93192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Sprint 5 destravada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Backend compara via /extractions/evaluation · rubrica humana + Kappa.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93776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Status Report 2 (19/06)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66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Frontend pronto · IA-Assistente em uso real · Likert lançado.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1F3A6B"/>
                </a:solidFill>
                <a:latin typeface="Arial"/>
              </a:rPr>
              <a:t>Obrigado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42900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61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4A5A"/>
                </a:solidFill>
                <a:latin typeface="Arial"/>
              </a:rPr>
              <a:t>Discussão e 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66344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6B7A"/>
                </a:solidFill>
                <a:latin typeface="Arial"/>
              </a:rPr>
              <a:t>Documentação completa disponível no repositório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9204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B7A"/>
                </a:solidFill>
                <a:latin typeface="Arial"/>
              </a:rPr>
              <a:t>github.com/raniel90/obione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Equipe ObiOne  ·  UPE/POLI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Professor: Prof. Ivaldir Honório de Farias Júnior  ·  Recife, Maio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 QUE É O OBIONE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Observatório-de-portfólio para consultoria de projetos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PARA QUEM E PARA QUÊ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Consultoria · Clientes · Comunidade</a:t>
            </a:r>
          </a:p>
          <a:p>
            <a:pPr algn="l"/>
            <a:r>
              <a:rPr sz="800" b="0" i="0">
                <a:solidFill>
                  <a:srgbClr val="2C2C3E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Consultoria: observa o portfólio como conhecimento estruturado, não como pasta de Drive.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Cliente: acompanha o próprio projeto em linguagem acessível, sem depender de reunião.</a:t>
            </a:r>
          </a:p>
          <a:p>
            <a:pPr algn="l"/>
            <a:r>
              <a:rPr sz="1300" b="0" i="1">
                <a:solidFill>
                  <a:srgbClr val="2C2C3E"/>
                </a:solidFill>
                <a:latin typeface="Arial"/>
              </a:rPr>
              <a:t>Comunidade vira ativo: comentários, comparativos cross-projeto, IA mantém o tecido vivo.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DIFERENCIAL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Combinação inédita em 3 vetores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0175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0480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Jira, Trello: gerenciam tarefas e prazos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0000" y="32918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observa o projeto como objeto (MPO · 44 atributos)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7033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0000" y="37338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Power BI, Looker: dashboards estáticos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776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extrai significado de .docx com LLM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891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acad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0000" y="44196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OPTI-PE e similares: instrumentos de pesquisa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0000" y="46634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é operacional: consultoria + clientes no dia-a-dia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172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3A6B"/>
                </a:solidFill>
                <a:latin typeface="Arial"/>
              </a:rPr>
              <a:t>Único a combinar observação MPO + extração com IA + comunidade ativa em uma só plataforma.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0" y="35205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Base: Quadro 37 (Vieira, 2022 · p. 264)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0" y="42063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Referência: OPTI-PE (Vieira, 2022 · Cap. 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000" y="48921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Análise: levantamento de ferramentas de mercado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4 / 12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REQUISITOS · FUNDAÇÃO +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6 requisitos funcionais · sprints 2 e 3 · todos implementados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RF01 · Autenticar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JWT com expiração de 24h. Admin cria usuários; sem cadastro público.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RF02 · Perfis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Consultor, cliente, admin. Acesso semi-aberto materializa o modelo do MPO.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RF03 · Cadastro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Projeto com nome, domínio (legal/health/sports/branding/gastronomy/other), descrição.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RF04 · Upload .docx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Multipart com validação MIME + sha256 + limite de 50 MB. Rejeita duplicatas.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RF05 + RF06 · Extração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44 atributos do Quadro 37 via LLM. Persistência com prompt + modelo registrados.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6 / 12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REQUISITOS · OBSERVAÇÃO + COMUNIDADE +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7 requisitos funcionais · sprints 3 e 4 · todos implementados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RF07 + RF09 · Portfólio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Visão do consultor com status derivado e cobertura % do MPO por projeto.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RF08 · Detalhe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View consolidado: documentos, extrações, cobertura, comentários recentes.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RF10 + RF11 · Diálogo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Comentários com 1 nível de threading. Feed in-app cronológico por visibilidade.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RF12 · Resumo Cliente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IA tradutora: extração técnica vira narrativa acessível. Sempre revisada pelo consultor.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RF13 · Drafts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IA redutora de fricção: próximos passos e pontos de atenção. Consultor edita e publica.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7 / 12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REQUISITOS · AVALIAÇÃO DSR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5 requisitos funcionais · sprint 5 · backend pronto · coleta humana pendente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RF14 · Gabarito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Importação de gabarito manual validado contra o schema JSON dos 44 atributos.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RF15 · Comparação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Critério híbrido: comparação exata (estruturado) + rubrica humana 0/0,5/1 + índice de concordância.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RF16 · Likert Consultoria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4 dimensões: utilidade dos drafts, fricção, qualidade do resumo, manutenibilidade.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RF17 · Likert Clientes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4 dimensões: clareza do resumo, utilidade do espaço, qualidade do diálogo, inclusão.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RF18 · Exportação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Bundle JSON (research) + CSV long-format (rubrica). Subsidia o relato de experiência.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8 / 12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REQUISITOS NÃO-FUNCIONAIS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9 RNFs organizados por tema · todos endereçados arquiteturalmente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Segurança &amp; LGPD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RNF01 · auth obrigatório em todas as rotas · RNF02 · NDA + criptografia + logs de acesso.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Reprodutibilidade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RNF03 · versão do prompt e modelo LLM registrados · RNF04 · schema JSON versionado v1.0.0.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RNF05 · extração LLM ≤ 90s/doc (medido 46-79s) · RNF06 · endpoints REST ≤ 500ms p95.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Usabilidade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RNF07 · linguagem cidadã no Resumo do Cliente · sem jargão técnico · revisão obrigatória.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Manutenibilidade &amp; Custo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RNF08 · ports &amp; adapters (LLM, storage) · RNF09 · Ollama local como default zero-cost.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9 / 12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