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75" r:id="rId14"/>
    <p:sldId id="264" r:id="rId15"/>
    <p:sldId id="270" r:id="rId21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0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8.xml"/><Relationship Id="rId15" Type="http://schemas.openxmlformats.org/officeDocument/2006/relationships/slide" Target="slides/slide4.xml"/><Relationship Id="rId21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~30s]</a:t>
            </a:r>
          </a:p>
          <a:p/>
          <a:p>
            <a:r>
              <a:t>Saudação inicial. Apresentar o grupo e a cadeira:</a:t>
            </a:r>
          </a:p>
          <a:p>
            <a:r>
              <a:t>"Somos Bruno, Cynthia, Moisés e Raniel, do grupo ObiOne, da cadeira Tópicos Avançados em Engenharia de Software, do prof. Ivaldir."</a:t>
            </a:r>
          </a:p>
          <a:p/>
          <a:p>
            <a:r>
              <a:t>Gancho: "Esse é o nosso Status Report 1. Vamos te mostrar o que é o ObiOne, o que vamos entregar até 10/07, e onde estamos agora."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~30s]</a:t>
            </a:r>
          </a:p>
          <a:p/>
          <a:p>
            <a:r>
              <a:t>Apresente o roteiro em 4 blocos sem detalhar:</a:t>
            </a:r>
          </a:p>
          <a:p>
            <a:r>
              <a:t>"Quatro partes: primeiro o contexto que motiva o projeto, depois o que vamos construir, o cronograma das 9 semanas restantes, e fechamos com o status atual."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~2min — slide-chave para criar tensão narrativa]</a:t>
            </a:r>
          </a:p>
          <a:p/>
          <a:p>
            <a:r>
              <a:t>CARD ESQUERDO — "Observatórios vs. ferramentas":</a:t>
            </a:r>
          </a:p>
          <a:p>
            <a:r>
              <a:t>"Observatório é MAIS que dashboard. É um espaço de conhecimento entre múltiplos atores — consultoria, clientes, pesquisa — mediado por interação contínua. Ferramentas de gestão como Jira ou planilhas só oferecem visualização de status. Falta o tecido social e a curadoria do conhecimento."</a:t>
            </a:r>
          </a:p>
          <a:p/>
          <a:p>
            <a:r>
              <a:t>TRANSIÇÃO para o card direito:</a:t>
            </a:r>
          </a:p>
          <a:p>
            <a:r>
              <a:t>"Se observatórios são tão valiosos, por que são raros na prática? Porque mantê-los vivos é CARO."</a:t>
            </a:r>
          </a:p>
          <a:p/>
          <a:p>
            <a:r>
              <a:t>CARD DIREITO — três fontes de fricção:</a:t>
            </a:r>
          </a:p>
          <a:p>
            <a:r>
              <a:t>1. Manual: ler .docx, estruturar, atualizar a curadoria de atributos</a:t>
            </a:r>
          </a:p>
          <a:p>
            <a:r>
              <a:t>2. Repetitivo: comunicar progresso ao cliente em linguagem acessível</a:t>
            </a:r>
          </a:p>
          <a:p>
            <a:r>
              <a:t>3. Custoso: manter engajamento da comunidade — responder, contextualizar</a:t>
            </a:r>
          </a:p>
          <a:p/>
          <a:p>
            <a:r>
              <a:t>FECHAMENTO: "Sem reduzir essa fricção, observatório fica restrito à teoria. É aí que entra a IA Generativa — e o ObiOne."</a:t>
            </a:r>
          </a:p>
          <a:p/>
          <a:p>
            <a:r>
              <a:t>Bases citadas: Vieira (2022) Cap. 5 (MPO); OPTI-PE como caso prático; Seção 6.4 sobre Trabalhos Futuros.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~3min — NÚCLEO ESTRATÉGICO da apresentação]</a:t>
            </a:r>
          </a:p>
          <a:p/>
          <a:p>
            <a:r>
              <a:t>CARD ESQUERDO — "O que é o ObiOne":</a:t>
            </a:r>
          </a:p>
          <a:p>
            <a:r>
              <a:t>Diga claramente: "O ObiOne é um observatório-de-portfólio para consultoria de projetos."</a:t>
            </a:r>
          </a:p>
          <a:p/>
          <a:p>
            <a:r>
              <a:t>PARA QUEM E PARA QUÊ — três audiências:</a:t>
            </a:r>
          </a:p>
          <a:p>
            <a:r>
              <a:t>- CONSULTORIA: observa o portfólio como conhecimento estruturado, não como pasta de Drive.</a:t>
            </a:r>
          </a:p>
          <a:p>
            <a:r>
              <a:t>- CLIENTE: acompanha o PRÓPRIO projeto em linguagem acessível, sem depender de reunião.</a:t>
            </a:r>
          </a:p>
          <a:p>
            <a:r>
              <a:t>- COMUNIDADE vira ativo: comentários, comparativos cross-projeto, IA mantém o tecido vivo.</a:t>
            </a:r>
          </a:p>
          <a:p/>
          <a:p>
            <a:r>
              <a:t>PAUSA — deixe assentar.</a:t>
            </a:r>
          </a:p>
          <a:p/>
          <a:p>
            <a:r>
              <a:t>CARD DIREITO — "Por que isso é diferente do que já existe? Combinação inédita em 3 vetores":</a:t>
            </a:r>
          </a:p>
          <a:p>
            <a:r>
              <a:t>- vs. PM (Jira, Trello, Asana): gerenciam tarefas e prazos. ObiOne OBSERVA o projeto como objeto de conhecimento, mapeando 44 atributos do MPO.</a:t>
            </a:r>
          </a:p>
          <a:p>
            <a:r>
              <a:t>- vs. BI (Power BI, Looker): mostram métricas. ObiOne extrai SIGNIFICADO de .docx com LLM.</a:t>
            </a:r>
          </a:p>
          <a:p>
            <a:r>
              <a:t>- vs. OBSERVATÓRIOS ACADÊMICOS (OPTI-PE): são instrumentos de pesquisa estáticos. ObiOne é OPERACIONAL — consultoria e clientes no dia-a-dia.</a:t>
            </a:r>
          </a:p>
          <a:p/>
          <a:p>
            <a:r>
              <a:t>FECHAMENTO: "Único a combinar observação MPO + extração com IA + comunidade ativa em uma só plataforma."</a:t>
            </a:r>
          </a:p>
          <a:p/>
          <a:p>
            <a:r>
              <a:t>Bases citadas: Quadro 37 do MPO (44 atributos); OPTI-PE (Vieira 2022 Cap. 5); levantamento de ferramentas de mercado.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~2min]</a:t>
            </a:r>
          </a:p>
          <a:p/>
          <a:p>
            <a:r>
              <a:t>Descer ao nível da execução:</a:t>
            </a:r>
          </a:p>
          <a:p>
            <a:r>
              <a:t>"Agora o como — escopo organizado em 5 grupos, 18 requisitos funcionais."</a:t>
            </a:r>
          </a:p>
          <a:p/>
          <a:p>
            <a:r>
              <a:t>Aponte para cada grupo brevemente (NÃO leia tudo):</a:t>
            </a:r>
          </a:p>
          <a:p>
            <a:r>
              <a:t>- G1 PIPELINE LLM: extrai os 44 atributos via LLM, alimenta tudo</a:t>
            </a:r>
          </a:p>
          <a:p>
            <a:r>
              <a:t>- G2 OBSERVAÇÃO: dashboard de cobertura — cliente vê apenas o seu projeto</a:t>
            </a:r>
          </a:p>
          <a:p>
            <a:r>
              <a:t>- G3 COMUNIDADE: auth, perfis semi-abertos, comentários e feed</a:t>
            </a:r>
          </a:p>
          <a:p>
            <a:r>
              <a:t>- G4 IA-ASSISTENTE: Resumo do Cliente (tradutora) + Drafts (redutora de fricção)</a:t>
            </a:r>
          </a:p>
          <a:p>
            <a:r>
              <a:t>- G5 AVALIAÇÃO: rubrica + Cohen's Kappa nos 3 projetos + Likert × 2 audiências</a:t>
            </a:r>
          </a:p>
          <a:p/>
          <a:p>
            <a:r>
              <a:t>FECHAMENTO: "Cada grupo materializa uma categoria do MPO. Detalhes técnicos no repositório."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~1.5min]</a:t>
            </a:r>
          </a:p>
          <a:p/>
          <a:p>
            <a:r>
              <a:t>"São 9 semanas até 10/07, divididas em 4 marcos."</a:t>
            </a:r>
          </a:p>
          <a:p/>
          <a:p>
            <a:r>
              <a:t>Percorra rapidamente os marcos (use os subtítulos como âncora):</a:t>
            </a:r>
          </a:p>
          <a:p>
            <a:r>
              <a:t>- M1 PREPARAÇÃO (22-28 mai · ESTA SEMANA): atributos, protocolo, primeiros gabaritos. Destrava tudo o que vem.</a:t>
            </a:r>
          </a:p>
          <a:p>
            <a:r>
              <a:t>- M2 PIPELINE (29 mai - 11 jun): núcleo técnico. Cadastro + upload + auth + extração LLM nos 5 projetos.</a:t>
            </a:r>
          </a:p>
          <a:p>
            <a:r>
              <a:t>- M3 DASHBOARD + IA (12-25 jun): a comunidade ganha vida. Cobertura, perfis, comentários, Resumo do Cliente, Drafts assistidos. Status Report 2 em 19/06.</a:t>
            </a:r>
          </a:p>
          <a:p>
            <a:r>
              <a:t>- M4 AVALIAÇÃO (26 jun - 2 jul): fecha o ciclo DSR. Precisão, Recall, F1, Kappa, Likert × 2.</a:t>
            </a:r>
          </a:p>
          <a:p/>
          <a:p>
            <a:r>
              <a:t>FECHAMENTO: "Escrita do relato de 3-9/07. Apresentação final em 10/07."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~1.5min]</a:t>
            </a:r>
          </a:p>
          <a:p/>
          <a:p>
            <a:r>
              <a:t>"Onde estamos AGORA e o que vem nas próximas semanas."</a:t>
            </a:r>
          </a:p>
          <a:p/>
          <a:p>
            <a:r>
              <a:t>CARD ESQUERDO — ESTÁ FEITO (Sprint 1, esta semana — preparatória):</a:t>
            </a:r>
          </a:p>
          <a:p>
            <a:r>
              <a:t>1. REQUISITOS: 18 funcionais + 9 não funcionais, em formato ficha</a:t>
            </a:r>
          </a:p>
          <a:p>
            <a:r>
              <a:t>2. ATRIBUTOS-ALVO do MPO: os 44 do Quadro 37, categorizados por tipo</a:t>
            </a:r>
          </a:p>
          <a:p>
            <a:r>
              <a:t>3. PROTOCOLO DE AVALIAÇÃO: rubrica híbrida 0/0,5/1 + Cohen's Kappa</a:t>
            </a:r>
          </a:p>
          <a:p/>
          <a:p>
            <a:r>
              <a:t>CARD DIREITO — PRÓXIMAS SEMANAS:</a:t>
            </a:r>
          </a:p>
          <a:p>
            <a:r>
              <a:t>4. SPRINT 2 (22 mai - 4 jun): cadastro + upload + auth + pipeline LLM rodando nos 5 projetos</a:t>
            </a:r>
          </a:p>
          <a:p>
            <a:r>
              <a:t>5. GABARITOS MANUAIS: Valença como piloto, depois Freire Batista e Kaka JJ — pareados (Cynthia + Moisés)</a:t>
            </a:r>
          </a:p>
          <a:p>
            <a:r>
              <a:t>6. STATUS REPORT 2 (19/06): dashboard + IA-Assistente operacionais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[Tempo: ~30s + perguntas]</a:t>
            </a:r>
          </a:p>
          <a:p/>
          <a:p>
            <a:r>
              <a:t>"Esse foi nosso Status Report 1. Documentação completa no repositório raniel90/obione. Abrimos para perguntas."</a:t>
            </a:r>
          </a:p>
          <a:p/>
          <a:p>
            <a:r>
              <a:t>Antecipe perguntas prováveis (responda só se vierem):</a:t>
            </a:r>
          </a:p>
          <a:p>
            <a:r>
              <a:t>- "Como vão validar o LLM?" → rubrica híbrida + 2 avaliadores independentes + Kappa</a:t>
            </a:r>
          </a:p>
          <a:p>
            <a:r>
              <a:t>- "Quem são os clientes?" → consultoria parceira; 5 projetos reais de domínios distintos (jurídico, saúde, esporte, branding)</a:t>
            </a:r>
          </a:p>
          <a:p>
            <a:r>
              <a:t>- "E se a IA errar?" → IA gera draft, consultor revisa antes de publicar</a:t>
            </a:r>
          </a:p>
          <a:p>
            <a:r>
              <a:t>- "Por que LLM e não regex/parser?" → heterogeneidade dos .docx; LLM lida com variação semântica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1828800" cy="13743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OBIONE · STATUS REPORT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90800"/>
            <a:ext cx="1100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600" b="1">
                <a:solidFill>
                  <a:srgbClr val="1F3A6B"/>
                </a:solidFill>
                <a:latin typeface="Arial"/>
              </a:rPr>
              <a:t>ObiOne · Observatório de Projetos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A4A5A"/>
                </a:solidFill>
                <a:latin typeface="Arial"/>
              </a:rPr>
              <a:t>Apresentação à cadeira Tópicos Avançados em Engenharia de Software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66344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800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Equipe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292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Bruno Rocha · Cynthia Oliveira · Moisés Júnior · Raniel Silva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86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Professor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7150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Prof. Ivaldir Honório de Farias Júnior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Universidade de Pernambuco · Escola Politécnica de Pernambuco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5379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6B7A"/>
                </a:solidFill>
                <a:latin typeface="Arial"/>
              </a:rPr>
              <a:t>Recife, Maio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STATUS REPORT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8745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33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Por que um observatório vivo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5603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 escopo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819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O que vamos construir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2461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Cronograma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052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9 semanas · 4 marcos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319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Status atual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910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Onde estamos e o que vem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Observatório é mais que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OBSERVATÓRIOS VS. FERRAMENTAS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Comunidade ativa de múltiplos atores</a:t>
            </a:r>
          </a:p>
          <a:p>
            <a:pPr algn="l"/>
            <a:r>
              <a:rPr sz="800" b="0" i="0">
                <a:solidFill>
                  <a:srgbClr val="2C2C3E"/>
                </a:solidFill>
                <a:latin typeface="Arial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Um observatório é espaço de conhecimento entre consultoria, clientes e pesquisa, mediado por interação contínua.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Ferramentas de gestão oferecem visualização do status. Faltam o tecido social e a curadoria do conhecimento.</a:t>
            </a:r>
          </a:p>
          <a:p>
            <a:pPr algn="l"/>
            <a:r>
              <a:rPr sz="1300" b="0" i="1">
                <a:solidFill>
                  <a:srgbClr val="2C2C3E"/>
                </a:solidFill>
                <a:latin typeface="Arial"/>
              </a:rPr>
              <a:t>Resultado: observatórios reais são raros porque mantê-los vivos custa caro.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POR QUE É CARO?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Três fontes de fricção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0175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0480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curadoria de atributos do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0000" y="32918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ler documentos, estruturar, atualizar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7033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Repetitivo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0000" y="37338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comunicar progresso aos clientes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776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traduzir técnico em narrativa acessível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3891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Custoso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0000" y="44196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manter engajamento da comunidade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0000" y="46634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responder, contextualizar, sugerir próximos passos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172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3A6B"/>
                </a:solidFill>
                <a:latin typeface="Arial"/>
              </a:rPr>
              <a:t>Sem reduzir essa fricção, o observatório fica restrito à teoria. É aí que entra a IA Generativa.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0" y="35205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Fonte: Vieira (2022) · Cap. 5 (MPO)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0" y="42063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Fonte: OPTI-PE como caso prático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0000" y="48921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Fonte: Vieira (2022) · Seção 6.4 · Trabalhos Futuros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5 grupos · 18 requisitos funcionais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Pipeline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4028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Extração via LLM dos atributos do Quadro 37 a partir de documentos .docx.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69748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278892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Observação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10896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Dashboard com cobertura do MPO. Cliente vê apenas o seu projeto.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56616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65760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Comunidade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7764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Auth, perfis semi-abertos, comentários e feed in-app.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43484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452628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IA-Assistente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4632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Resumo do projeto (tradutora) + drafts assistidos (redutora de fricção).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530352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Avaliação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1500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Precisão · recall · F1 · Kappa em 3 projetos + Likert × 2 audiências.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5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CRONOGRAMA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9 semanas restantes · 4 marcos · entrega 10/07/2026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58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5800" y="1554480"/>
            <a:ext cx="2667000" cy="685800"/>
          </a:xfrm>
          <a:prstGeom prst="rect">
            <a:avLst/>
          </a:prstGeom>
          <a:solidFill>
            <a:srgbClr val="1F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86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PREPARAÇÃO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22-28 mai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Atributos-alvo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Protocolo de avaliação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" y="3931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Início dos gabaritos (3 projetos)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86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Destrava todo o Sprint 1.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86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86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Status Report 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052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05200" y="1554480"/>
            <a:ext cx="2667000" cy="6858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880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880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PIPELINE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880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29 mai - 11 jun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880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880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Cadastro · upload · auth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880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Pipeline LLM nos 5 projetos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880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880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Núcleo técnico da extração de atributos.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880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880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880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5 JSONs persistidos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46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324600" y="1554480"/>
            <a:ext cx="2667000" cy="685800"/>
          </a:xfrm>
          <a:prstGeom prst="rect">
            <a:avLst/>
          </a:prstGeom>
          <a:solidFill>
            <a:srgbClr val="1F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5074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074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DASHBOARD + IA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074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074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12-25 jun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074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074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Cobertura · perfis · comentários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074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Resumo Cliente (IA)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07480" y="3931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Drafts assistidos (IA)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074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074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Onde a comunidade vive.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074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5074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074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Status Report 2 (19/06)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1440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0" y="1554480"/>
            <a:ext cx="2667000" cy="685800"/>
          </a:xfrm>
          <a:prstGeom prst="rect">
            <a:avLst/>
          </a:prstGeom>
          <a:solidFill>
            <a:srgbClr val="16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3268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3268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AVALIAÇÃO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3268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3268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26 jun - 2 jul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268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268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Precisão · Recall · F1 · Kappa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3268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Likert × 2 audiências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26880" y="3931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Exportação consolidada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268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3268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Fecha o ciclo DSR.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3268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3268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268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Relato + Apresentação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5577840"/>
            <a:ext cx="6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Escrita do relato: 3-9 jul · Apresentação final: 10/07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6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ONDE ESTAMOS · O QUE 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Status atual e próximas semanas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486400" cy="45720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5486400" cy="76200"/>
          </a:xfrm>
          <a:prstGeom prst="rect">
            <a:avLst/>
          </a:prstGeom>
          <a:solidFill>
            <a:srgbClr val="16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592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A05C"/>
                </a:solidFill>
                <a:latin typeface="Arial"/>
              </a:rPr>
              <a:t>ESTÁ FEITO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Sprint 1 · esta semana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9260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154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18 funcionais + 9 não funcionais em formato ficha.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3192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Atributos-alvo do MPO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1605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44 atributos do Quadro 37 categorizados.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3776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Protocolo de avaliação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166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Rubrica híbrida 0/0,5/1 + Kappa.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45920"/>
            <a:ext cx="5486400" cy="45720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645920"/>
            <a:ext cx="5486400" cy="762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182592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PRÓXIMAS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194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 que vem agora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92608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29260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Sprint 2 (22 mai - 4 jun)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154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Cadastro · upload · auth · pipeline LLM nos 5 projetos.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93192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Gabaritos manuais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605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Valença piloto · depois Freire Batista e Kaka JJ.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93776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Status Report 2 (19/06)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66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Dashboard + IA-Assistente operacionais.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7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1F3A6B"/>
                </a:solidFill>
                <a:latin typeface="Arial"/>
              </a:rPr>
              <a:t>Obrigado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42900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661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4A5A"/>
                </a:solidFill>
                <a:latin typeface="Arial"/>
              </a:rPr>
              <a:t>Discussão e 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66344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6B7A"/>
                </a:solidFill>
                <a:latin typeface="Arial"/>
              </a:rPr>
              <a:t>Documentação completa disponível no repositório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9204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6B7A"/>
                </a:solidFill>
                <a:latin typeface="Arial"/>
              </a:rPr>
              <a:t>github.com/raniel90/obione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807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Equipe ObiOne  ·  UPE/POLI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Professor: Prof. Ivaldir Honório de Farias Júnior  ·  Recife, Maio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 QUE É O OBIONE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Observatório-de-portfólio para consultoria de projetos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PARA QUEM E PARA QUÊ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Consultoria · Clientes · Comunidade</a:t>
            </a:r>
          </a:p>
          <a:p>
            <a:pPr algn="l"/>
            <a:r>
              <a:rPr sz="800" b="0" i="0">
                <a:solidFill>
                  <a:srgbClr val="2C2C3E"/>
                </a:solidFill>
                <a:latin typeface="Arial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Consultoria: observa o portfólio como conhecimento estruturado, não como pasta de Drive.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Cliente: acompanha o próprio projeto em linguagem acessível, sem depender de reunião.</a:t>
            </a:r>
          </a:p>
          <a:p>
            <a:pPr algn="l"/>
            <a:r>
              <a:rPr sz="1300" b="0" i="1">
                <a:solidFill>
                  <a:srgbClr val="2C2C3E"/>
                </a:solidFill>
                <a:latin typeface="Arial"/>
              </a:rPr>
              <a:t>Comunidade vira ativo: comentários, comparativos cross-projeto, IA mantém o tecido vivo.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DIFERENCIAL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Combinação inédita em 3 vetores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0175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vs. PM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0480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Jira, Trello: gerenciam tarefas e prazos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0000" y="32918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ObiOne observa o projeto como objeto (MPO · 44 atributos)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7033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vs. BI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0000" y="37338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Power BI, Looker: dashboards estáticos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776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ObiOne extrai significado de .docx com LLM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3891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vs. acad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0000" y="44196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OPTI-PE e similares: instrumentos de pesquisa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0000" y="46634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ObiOne é operacional: consultoria + clientes no dia-a-dia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172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3A6B"/>
                </a:solidFill>
                <a:latin typeface="Arial"/>
              </a:rPr>
              <a:t>Único a combinar observação MPO + extração com IA + comunidade ativa em uma só plataforma.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0" y="35205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Base: Quadro 37 (Vieira, 2022 · p. 264)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0" y="42063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Referência: OPTI-PE (Vieira, 2022 · Cap. 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0000" y="48921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Análise: levantamento de ferramentas de mercado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4 / 8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