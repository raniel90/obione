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4" r:id="rId15"/>
    <p:sldId id="270" r:id="rId21"/>
    <p:sldId id="273" r:id="rId24"/>
    <p:sldId id="279" r:id="rId18"/>
    <p:sldId id="278" r:id="rId17"/>
    <p:sldId id="277" r:id="rId16"/>
    <p:sldId id="276" r:id="rId13"/>
    <p:sldId id="280" r:id="rId14"/>
    <p:sldId id="281" r:id="rId19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4.xml"/><Relationship Id="rId16" Type="http://schemas.openxmlformats.org/officeDocument/2006/relationships/slide" Target="slides/slide9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SEMINÁRIO TAES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F3A6B"/>
                </a:solidFill>
                <a:latin typeface="Arial"/>
              </a:rPr>
              <a:t>ObiOne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Um observatório de projetos viabilizado por IA generativa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Tópicos Avançados em Engenharia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De onde partimos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Contexto, concepção e pivô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que construímos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ciclo, a IA e a comunidade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Como avaliamos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Método e resultados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Desafios e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que enfrentamos e o observatório ao vivo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PONTO DE PARTIDA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dos projetos se perde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Consultorias vivem de conhecimento, e ele evapora entre um projeto e o outro.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Fica na cabeça das pessoas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O que um projeto ensinou raramente chega ao próximo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9392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Concentrado em poucos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conexão entre projetos depende dos consultores mais experientes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55863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O cliente participa pouco</a:t>
            </a:r>
          </a:p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 abrir tudo comprometeria a confidencialidade entre clientes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CONCEPÇÃO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Da proposta inicial ao observatório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 crítica dos orientadores levou a um reescopo: refinar o propósito do artefato.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2743200"/>
            <a:ext cx="4206240" cy="146304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E0261E"/>
                </a:solidFill>
                <a:latin typeface="Arial"/>
              </a:rPr>
              <a:t>Proposta inicial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Extrator de atributos do MPO a partir de documentos</a:t>
            </a:r>
          </a:p>
        </p:txBody>
      </p:sp>
      <p:sp>
        <p:nvSpPr>
          <p:cNvPr id="40" name="Chevron 39"/>
          <p:cNvSpPr/>
          <p:nvPr/>
        </p:nvSpPr>
        <p:spPr>
          <a:xfrm>
            <a:off x="5212080" y="3246120"/>
            <a:ext cx="822960" cy="457200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63640" y="2743200"/>
            <a:ext cx="5074920" cy="146304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Proposta refinada</a:t>
            </a:r>
          </a:p>
          <a:p>
            <a:pPr algn="ctr">
              <a:spcAft>
                <a:spcPts val="3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Observatório de projetos com participação do cliente na comunidade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B6372"/>
                </a:solidFill>
                <a:latin typeface="Arial"/>
              </a:rPr>
              <a:t>O foco deslocou-se da extração de documentos para o ciclo de conhecimento, e a pergunta de pesquisa passou a ser: a IA generativa viabiliza um observatório de projetos?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13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COMO AVALIAMOS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Método: Design Science Research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822960" y="2148840"/>
            <a:ext cx="292608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Construir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 artefato</a:t>
            </a:r>
          </a:p>
        </p:txBody>
      </p:sp>
      <p:sp>
        <p:nvSpPr>
          <p:cNvPr id="129" name="Chevron 128"/>
          <p:cNvSpPr/>
          <p:nvPr/>
        </p:nvSpPr>
        <p:spPr>
          <a:xfrm>
            <a:off x="3767328" y="2514600"/>
            <a:ext cx="502920" cy="329184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4626864" y="2148840"/>
            <a:ext cx="292608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Demonstrar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em uso real</a:t>
            </a:r>
          </a:p>
        </p:txBody>
      </p:sp>
      <p:sp>
        <p:nvSpPr>
          <p:cNvPr id="131" name="Chevron 130"/>
          <p:cNvSpPr/>
          <p:nvPr/>
        </p:nvSpPr>
        <p:spPr>
          <a:xfrm>
            <a:off x="7571231" y="2514600"/>
            <a:ext cx="502920" cy="329184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430768" y="2148840"/>
            <a:ext cx="292608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Avaliar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 percepção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22960" y="3657600"/>
            <a:ext cx="507492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450" b="1">
                <a:solidFill>
                  <a:srgbClr val="E0261E"/>
                </a:solidFill>
                <a:latin typeface="Arial"/>
              </a:rPr>
              <a:t>Instrumento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44"/>
                </a:solidFill>
                <a:latin typeface="Arial"/>
              </a:rPr>
              <a:t>12 afirmações em escala Likert (1 a 5) e 3 perguntas abertas, após demonstração guiada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450" b="1">
                <a:solidFill>
                  <a:srgbClr val="E0261E"/>
                </a:solidFill>
                <a:latin typeface="Arial"/>
              </a:rPr>
              <a:t>Amostra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F2A44"/>
                </a:solidFill>
                <a:latin typeface="Arial"/>
              </a:rPr>
              <a:t>2 rodadas de 4 consultores (N=8), uma consultoria real; 2ª rodada após onboarding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8A909C"/>
                </a:solidFill>
                <a:latin typeface="Arial"/>
              </a:rPr>
              <a:t>Perspectiva do consultor. Reportado como casos, sem inferência estatística.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QUE CONSTRUÍMOS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ciclo do conhecimento no observatório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Observações viram discussões na comunidade e se consolidam em conhecimento, ancorado no MPO (Vieira, 2022).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Observação</a:t>
            </a:r>
          </a:p>
        </p:txBody>
      </p:sp>
      <p:sp>
        <p:nvSpPr>
          <p:cNvPr id="41" name="Chevron 40"/>
          <p:cNvSpPr/>
          <p:nvPr/>
        </p:nvSpPr>
        <p:spPr>
          <a:xfrm>
            <a:off x="385876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7200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Discussão</a:t>
            </a:r>
          </a:p>
        </p:txBody>
      </p:sp>
      <p:sp>
        <p:nvSpPr>
          <p:cNvPr id="43" name="Chevron 42"/>
          <p:cNvSpPr/>
          <p:nvPr/>
        </p:nvSpPr>
        <p:spPr>
          <a:xfrm>
            <a:off x="760780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2104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Conhecimento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4617720"/>
            <a:ext cx="10515600" cy="86868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2A44"/>
                </a:solidFill>
                <a:latin typeface="Arial"/>
              </a:rPr>
              <a:t>O conhecimento consolidado fica disponível para os próximos projetos do domínio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CAMADA DE 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Assistiva, ancorada e auditável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 IA acelera cada ponta do ciclo, sempre com o consultor no comando.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286000"/>
            <a:ext cx="5394960" cy="3703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2487168"/>
            <a:ext cx="49377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PAPÉIS DA IA NO CICLO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Configuradora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No cadastro: propõe o domínio e o que acompanhar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Observadora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Sugere observações à luz do MPO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Sintetizadora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Consolida o aprendizado da conversa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Conectora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Sintetiza padrões entre projetos do domínio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09360" y="2286000"/>
            <a:ext cx="5394960" cy="37033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2487168"/>
            <a:ext cx="49377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COMO CONFIAMOS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A IA propõe, o humano decide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Nunca escreve direto: o consultor revisa e publica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Ancorada no MPO, com saída estruturada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resposta segue um formato definido e usa apenas atributos do catálogo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Proveniência registrada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Cada sugestão guarda provedor, modelo e momento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8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DIFERENCIAL · ACESSO SEMI-ABERTO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cliente participa, sem ver outros clientes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965960"/>
            <a:ext cx="6949440" cy="4343400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502920" y="2468880"/>
            <a:ext cx="4114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Vê e acessa apenas o próprio projeto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Contribui nas conversas da comunidade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As novidades do projeto o convidam a voltar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9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REAPROVEITAMENTO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atravessa projetos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37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Aprendizados consolidados em um projeto aparecem nos demais projetos do domínio; a Conectora sintetiza padrões sob demanda.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95" y="2377440"/>
            <a:ext cx="9509760" cy="3999194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10 / 13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RESULTADOS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Valor percebido, com um ponto de atenção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2148840"/>
            <a:ext cx="3520440" cy="19659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2148840"/>
            <a:ext cx="3520440" cy="1097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2404872"/>
            <a:ext cx="35204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 i="0">
                <a:solidFill>
                  <a:srgbClr val="1F2A44"/>
                </a:solidFill>
                <a:latin typeface="Arial"/>
              </a:rPr>
              <a:t>4,3 / 5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Arial"/>
              </a:rPr>
              <a:t>média acumulada (8 consultores)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9392" y="2148840"/>
            <a:ext cx="3520440" cy="19659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9392" y="2148840"/>
            <a:ext cx="3520440" cy="1097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404872"/>
            <a:ext cx="35204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 i="0">
                <a:solidFill>
                  <a:srgbClr val="1F2A44"/>
                </a:solidFill>
                <a:latin typeface="Arial"/>
              </a:rPr>
              <a:t>N = 8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Arial"/>
              </a:rPr>
              <a:t>2 rodadas de 4 · uma consultoria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55863" y="2148840"/>
            <a:ext cx="3520440" cy="19659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55863" y="2148840"/>
            <a:ext cx="3520440" cy="1097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5863" y="2404872"/>
            <a:ext cx="35204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 i="0">
                <a:solidFill>
                  <a:srgbClr val="1F2A44"/>
                </a:solidFill>
                <a:latin typeface="Arial"/>
              </a:rPr>
              <a:t>83%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Arial"/>
              </a:rPr>
              <a:t>das respostas foram nota 4 ou 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343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A44"/>
                </a:solidFill>
                <a:latin typeface="Arial"/>
              </a:rPr>
              <a:t>1ª rodada 4,48; a 2ª foi mais crítica (4,1). Aprendizados e governança no topo (5,0 na 1ª rodada); a clareza permaneceu em 3,8 e segue como o principal ponto de atenção.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92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1">
                <a:solidFill>
                  <a:srgbClr val="5B6372"/>
                </a:solidFill>
                <a:latin typeface="Arial"/>
              </a:rPr>
              <a:t>Nas respostas abertas o valor apareceu no aprendizado consolidado com IA; as críticas convergem para clareza e navegação.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11 / 13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PRINCIPAIS DESAFIOS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que enfrentamos e como resolvemos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1828800"/>
            <a:ext cx="5394960" cy="43434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2029968"/>
            <a:ext cx="49377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ESCOPO, MODELO E IA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Escopo amplo e pivô no meio do projeto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Reescopo formal com os orientadores e disciplina de cronograma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Entender o MPO a fundo e traduzi-lo sem jargão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Catálogo canônico dos 44 atributos e linguagem simples na interface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Confiar na IA sem perder o controle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Saída estruturada, grounding no MPO, validação em código e revisão humana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60" y="1828800"/>
            <a:ext cx="5394960" cy="43434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2029968"/>
            <a:ext cx="493776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E0261E"/>
                </a:solidFill>
                <a:latin typeface="Arial"/>
              </a:rPr>
              <a:t>VALIDAÇÃO, ADOÇÃO E EQUIPE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Validar com usuários reais a distância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Acesso remoto por túnel e dados de demonstração replicáveis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Clareza do primeiro acesso (3,8 nas 2 rodadas)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Onboarding incluído; o próximo passo é navegação guiada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450" b="1">
                <a:solidFill>
                  <a:srgbClr val="1F2A44"/>
                </a:solidFill>
                <a:latin typeface="Arial"/>
              </a:rPr>
              <a:t>Coordenar 4 frentes em equipe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Comunicação constante entre extração, front, avaliação e escrita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TAES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12 / 13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ONDE CHEGAMOS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804672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que o ObiOne entrega hoje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Isolamento entre clientes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10128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Reaproveitamento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7336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Engajamento do cliente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24544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IA assistiva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7548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A44"/>
                </a:solidFill>
                <a:latin typeface="Arial"/>
              </a:rPr>
              <a:t>Ciclo completo, replicável e demonstrável ao vivo. </a:t>
            </a:r>
            <a:r>
              <a:rPr sz="1600" b="0" i="0">
                <a:solidFill>
                  <a:srgbClr val="5B6372"/>
                </a:solidFill>
                <a:latin typeface="Arial"/>
              </a:rPr>
              <a:t>Próximos passos: navegação guiada e avaliação da fidelidade da extração do MPO.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Veremos ao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Bruno Rocha · Cynthia Oliveira · Moisés Júnior · Raniel Silva  ·  TAES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Orientador: Prof. Ivaldir Honório de Farias Júnior  ·  Recife, Julho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