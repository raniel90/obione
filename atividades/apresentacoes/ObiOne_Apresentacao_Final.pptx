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4" r:id="rId15"/>
    <p:sldId id="270" r:id="rId21"/>
    <p:sldId id="273" r:id="rId24"/>
    <p:sldId id="279" r:id="rId18"/>
    <p:sldId id="278" r:id="rId17"/>
    <p:sldId id="277" r:id="rId16"/>
    <p:sldId id="276" r:id="rId13"/>
    <p:sldId id="275" r:id="rId1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4.xml"/><Relationship Id="rId16" Type="http://schemas.openxmlformats.org/officeDocument/2006/relationships/slide" Target="slides/slide9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SEMINÁRIO TAES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F3A6B"/>
                </a:solidFill>
                <a:latin typeface="Arial"/>
              </a:rPr>
              <a:t>ObiOne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Um observatório de projetos viabilizado por IA generativa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Tópicos Avançados em Engenharia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problema e a solução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Por que um observatório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A jornada de 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ciclo funcionando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Diferencial e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Cliente dentro, IA copiloto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Validação e valor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Evidência e entrega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PROBLEMA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conhecimento dos projetos se perde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72"/>
                </a:solidFill>
                <a:latin typeface="Arial"/>
              </a:rPr>
              <a:t>Consultorias vivem de conhecimento, e ele evapora entre um projeto e o outro.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Fica na cabeça das pessoas</a:t>
            </a:r>
          </a:p>
          <a:p>
            <a:pPr algn="ctr">
              <a:spcAft>
                <a:spcPts val="2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O próximo projeto recomeça do zero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9392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O sênior vira gargalo</a:t>
            </a:r>
          </a:p>
          <a:p>
            <a:pPr algn="ctr">
              <a:spcAft>
                <a:spcPts val="2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Só ele conecta os pontos entre projetos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55863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O cliente fica fora do laço</a:t>
            </a:r>
          </a:p>
          <a:p>
            <a:pPr algn="ctr">
              <a:spcAft>
                <a:spcPts val="2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 não dá para abrir tudo entre clientes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A SOLUÇÃO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Um observatório que vira memória viva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72"/>
                </a:solidFill>
                <a:latin typeface="Arial"/>
              </a:rPr>
              <a:t>O ciclo do valor, ancorado no MPO (Vieira, 2022), com comunidade e IA assistiva.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Observação</a:t>
            </a:r>
          </a:p>
        </p:txBody>
      </p:sp>
      <p:sp>
        <p:nvSpPr>
          <p:cNvPr id="40" name="Chevron 39"/>
          <p:cNvSpPr/>
          <p:nvPr/>
        </p:nvSpPr>
        <p:spPr>
          <a:xfrm>
            <a:off x="3858768" y="3218688"/>
            <a:ext cx="566928" cy="384048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Discussão</a:t>
            </a:r>
          </a:p>
        </p:txBody>
      </p:sp>
      <p:sp>
        <p:nvSpPr>
          <p:cNvPr id="42" name="Chevron 41"/>
          <p:cNvSpPr/>
          <p:nvPr/>
        </p:nvSpPr>
        <p:spPr>
          <a:xfrm>
            <a:off x="7607808" y="3218688"/>
            <a:ext cx="566928" cy="384048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32104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Conhecimento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4617720"/>
            <a:ext cx="10515600" cy="86868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2A44"/>
                </a:solidFill>
                <a:latin typeface="Arial"/>
              </a:rPr>
              <a:t>Vira base de conhecimento reaproveitável por projetos futuros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12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A JORNADA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Do cadastro ao aprendizado, com a IA acelerando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2926080"/>
            <a:ext cx="1965960" cy="1051560"/>
          </a:xfrm>
          <a:prstGeom prst="roundRect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Cadastro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com IA</a:t>
            </a:r>
          </a:p>
        </p:txBody>
      </p:sp>
      <p:sp>
        <p:nvSpPr>
          <p:cNvPr id="129" name="Chevron 128"/>
          <p:cNvSpPr/>
          <p:nvPr/>
        </p:nvSpPr>
        <p:spPr>
          <a:xfrm>
            <a:off x="2487168" y="3291840"/>
            <a:ext cx="365760" cy="32004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2761488" y="2926080"/>
            <a:ext cx="196596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Observação</a:t>
            </a:r>
          </a:p>
        </p:txBody>
      </p:sp>
      <p:sp>
        <p:nvSpPr>
          <p:cNvPr id="131" name="Chevron 130"/>
          <p:cNvSpPr/>
          <p:nvPr/>
        </p:nvSpPr>
        <p:spPr>
          <a:xfrm>
            <a:off x="4745736" y="3291840"/>
            <a:ext cx="365760" cy="32004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020056" y="2926080"/>
            <a:ext cx="196596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Conversa</a:t>
            </a:r>
          </a:p>
        </p:txBody>
      </p:sp>
      <p:sp>
        <p:nvSpPr>
          <p:cNvPr id="133" name="Chevron 132"/>
          <p:cNvSpPr/>
          <p:nvPr/>
        </p:nvSpPr>
        <p:spPr>
          <a:xfrm>
            <a:off x="7004304" y="3291840"/>
            <a:ext cx="365760" cy="32004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278624" y="2926080"/>
            <a:ext cx="1965960" cy="1051560"/>
          </a:xfrm>
          <a:prstGeom prst="roundRect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Consolidação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com IA</a:t>
            </a:r>
          </a:p>
        </p:txBody>
      </p:sp>
      <p:sp>
        <p:nvSpPr>
          <p:cNvPr id="135" name="Chevron 134"/>
          <p:cNvSpPr/>
          <p:nvPr/>
        </p:nvSpPr>
        <p:spPr>
          <a:xfrm>
            <a:off x="9262872" y="3291840"/>
            <a:ext cx="365760" cy="32004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9537192" y="2926080"/>
            <a:ext cx="196596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Reuso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02920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72"/>
                </a:solidFill>
                <a:latin typeface="Arial"/>
              </a:rPr>
              <a:t>A IA acelera as pontas trabalhosas; o consultor decide.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DIFERENCIAL · CLIENTE COM MURALHA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cliente dentro, sem ver os outros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965960"/>
            <a:ext cx="6949440" cy="4343400"/>
          </a:xfrm>
          <a:prstGeom prst="rect">
            <a:avLst/>
          </a:prstGeom>
          <a:ln w="15875">
            <a:solidFill>
              <a:srgbClr val="DDE1E7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502920" y="2468880"/>
            <a:ext cx="41148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Vê e acessa só o seu projeto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Participa da conversa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As novidades o trazem de volta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7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REAPROVEITAMENTO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conhecimento atravessa projetos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83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Aprendizados de outros projetos afloram no domínio; a Conectora sintetiza padrões sob demanda.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9595" y="2377440"/>
            <a:ext cx="9509760" cy="3999194"/>
          </a:xfrm>
          <a:prstGeom prst="rect">
            <a:avLst/>
          </a:prstGeom>
          <a:ln w="15875">
            <a:solidFill>
              <a:srgbClr val="DDE1E7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8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IA COM REVISÃO HUMANA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A IA sugere, o humano decide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" y="2880360"/>
            <a:ext cx="2834640" cy="1234440"/>
          </a:xfrm>
          <a:prstGeom prst="roundRect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IA propõe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rascunho</a:t>
            </a:r>
          </a:p>
        </p:txBody>
      </p:sp>
      <p:sp>
        <p:nvSpPr>
          <p:cNvPr id="44" name="Chevron 43"/>
          <p:cNvSpPr/>
          <p:nvPr/>
        </p:nvSpPr>
        <p:spPr>
          <a:xfrm>
            <a:off x="3767327" y="3319272"/>
            <a:ext cx="502920" cy="36576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663440" y="2880360"/>
            <a:ext cx="2834640" cy="123444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consultor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revisa</a:t>
            </a:r>
          </a:p>
        </p:txBody>
      </p:sp>
      <p:sp>
        <p:nvSpPr>
          <p:cNvPr id="46" name="Chevron 45"/>
          <p:cNvSpPr/>
          <p:nvPr/>
        </p:nvSpPr>
        <p:spPr>
          <a:xfrm>
            <a:off x="7516367" y="3319272"/>
            <a:ext cx="502920" cy="36576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412480" y="2880360"/>
            <a:ext cx="2834640" cy="123444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Publicado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e auditável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617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B6372"/>
                </a:solidFill>
                <a:latin typeface="Arial"/>
              </a:rPr>
              <a:t>A IA nunca escreve direto: propõe, o consultor publica. Cada sugestão fica registrada com provedor, modelo e momento.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9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VALIDAÇÃO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Valor percebido, com um alerta honesto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B6372"/>
                </a:solidFill>
                <a:latin typeface="Arial"/>
              </a:rPr>
              <a:t>Design Science Research, reportado como casos (sem inferência estatística).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69748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4600" b="1">
                <a:solidFill>
                  <a:srgbClr val="1F2A44"/>
                </a:solidFill>
                <a:latin typeface="Arial"/>
              </a:rPr>
              <a:t>N = 8</a:t>
            </a:r>
          </a:p>
          <a:p>
            <a:pPr algn="ctr">
              <a:spcAft>
                <a:spcPts val="200"/>
              </a:spcAft>
            </a:pPr>
            <a:r>
              <a:rPr sz="1350" b="0">
                <a:solidFill>
                  <a:srgbClr val="5B6372"/>
                </a:solidFill>
                <a:latin typeface="Arial"/>
              </a:rPr>
              <a:t>participantes · duas rodadas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2697480"/>
            <a:ext cx="3520440" cy="1097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79392" y="269748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4600" b="1">
                <a:solidFill>
                  <a:srgbClr val="1F2A44"/>
                </a:solidFill>
                <a:latin typeface="Arial"/>
              </a:rPr>
              <a:t>5,0</a:t>
            </a:r>
          </a:p>
          <a:p>
            <a:pPr algn="ctr">
              <a:spcAft>
                <a:spcPts val="200"/>
              </a:spcAft>
            </a:pPr>
            <a:r>
              <a:rPr sz="1350" b="0">
                <a:solidFill>
                  <a:srgbClr val="5B6372"/>
                </a:solidFill>
                <a:latin typeface="Arial"/>
              </a:rPr>
              <a:t>governança e comunidade · nota máxima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79392" y="2697480"/>
            <a:ext cx="3520440" cy="1097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55863" y="269748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4600" b="1">
                <a:solidFill>
                  <a:srgbClr val="1F2A44"/>
                </a:solidFill>
                <a:latin typeface="Arial"/>
              </a:rPr>
              <a:t>3,8</a:t>
            </a:r>
          </a:p>
          <a:p>
            <a:pPr algn="ctr">
              <a:spcAft>
                <a:spcPts val="200"/>
              </a:spcAft>
            </a:pPr>
            <a:r>
              <a:rPr sz="1350" b="0">
                <a:solidFill>
                  <a:srgbClr val="5B6372"/>
                </a:solidFill>
                <a:latin typeface="Arial"/>
              </a:rPr>
              <a:t>clareza · o ponto a evoluir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55863" y="2697480"/>
            <a:ext cx="3520440" cy="109728"/>
          </a:xfrm>
          <a:prstGeom prst="rect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10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DEMONSTRAÇÃO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Agora, o fluxo real</a:t>
            </a:r>
          </a:p>
        </p:txBody>
      </p:sp>
      <p:sp>
        <p:nvSpPr>
          <p:cNvPr id="43" name="Oval 42"/>
          <p:cNvSpPr/>
          <p:nvPr/>
        </p:nvSpPr>
        <p:spPr>
          <a:xfrm>
            <a:off x="1078992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Cadastro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com IA</a:t>
            </a:r>
          </a:p>
        </p:txBody>
      </p:sp>
      <p:sp>
        <p:nvSpPr>
          <p:cNvPr id="45" name="Oval 44"/>
          <p:cNvSpPr/>
          <p:nvPr/>
        </p:nvSpPr>
        <p:spPr>
          <a:xfrm>
            <a:off x="2962656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40864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Observação</a:t>
            </a:r>
          </a:p>
        </p:txBody>
      </p:sp>
      <p:sp>
        <p:nvSpPr>
          <p:cNvPr id="47" name="Oval 46"/>
          <p:cNvSpPr/>
          <p:nvPr/>
        </p:nvSpPr>
        <p:spPr>
          <a:xfrm>
            <a:off x="4846320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528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Conversa</a:t>
            </a:r>
          </a:p>
        </p:txBody>
      </p:sp>
      <p:sp>
        <p:nvSpPr>
          <p:cNvPr id="49" name="Oval 48"/>
          <p:cNvSpPr/>
          <p:nvPr/>
        </p:nvSpPr>
        <p:spPr>
          <a:xfrm>
            <a:off x="6729983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08192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Consolidação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com IA</a:t>
            </a:r>
          </a:p>
        </p:txBody>
      </p:sp>
      <p:sp>
        <p:nvSpPr>
          <p:cNvPr id="51" name="Oval 50"/>
          <p:cNvSpPr/>
          <p:nvPr/>
        </p:nvSpPr>
        <p:spPr>
          <a:xfrm>
            <a:off x="8613648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91856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Reaprovei-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tamento</a:t>
            </a:r>
          </a:p>
        </p:txBody>
      </p:sp>
      <p:sp>
        <p:nvSpPr>
          <p:cNvPr id="53" name="Oval 52"/>
          <p:cNvSpPr/>
          <p:nvPr/>
        </p:nvSpPr>
        <p:spPr>
          <a:xfrm>
            <a:off x="10497312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875520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Cliente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isolado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4709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72"/>
                </a:solidFill>
                <a:latin typeface="Arial"/>
              </a:rPr>
              <a:t>O golden path completo, ao vivo: da entrada do projeto à participação segura do cliente.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11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VALOR ENTREGUE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A jornada roda de ponta a ponta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Isolamento do cliente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10128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Reaproveitamento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17336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Engajamento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24544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IA copiloto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754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A44"/>
                </a:solidFill>
                <a:latin typeface="Arial"/>
              </a:rPr>
              <a:t>Replicável e demoável. </a:t>
            </a:r>
            <a:r>
              <a:rPr sz="1600" b="0" i="0">
                <a:solidFill>
                  <a:srgbClr val="5B6372"/>
                </a:solidFill>
                <a:latin typeface="Arial"/>
              </a:rPr>
              <a:t>A seguir: navegação guiada e avaliação da fidelidade da extração do MPO.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Veremos ao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Bruno Rocha · Cynthia Oliveira · Moisés Júnior · Raniel Silva  ·  TAES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Orientador: Prof. Ivaldir Honório de Farias Júnior  ·  Recife, Julho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