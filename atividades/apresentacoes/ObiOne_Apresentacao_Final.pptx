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4" r:id="rId15"/>
    <p:sldId id="270" r:id="rId21"/>
    <p:sldId id="273" r:id="rId24"/>
    <p:sldId id="279" r:id="rId18"/>
    <p:sldId id="278" r:id="rId17"/>
    <p:sldId id="277" r:id="rId16"/>
    <p:sldId id="276" r:id="rId13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3.xml"/><Relationship Id="rId13" Type="http://schemas.openxmlformats.org/officeDocument/2006/relationships/slide" Target="slides/slide10.xml"/><Relationship Id="rId15" Type="http://schemas.openxmlformats.org/officeDocument/2006/relationships/slide" Target="slides/slide4.xml"/><Relationship Id="rId16" Type="http://schemas.openxmlformats.org/officeDocument/2006/relationships/slide" Target="slides/slide9.xml"/><Relationship Id="rId17" Type="http://schemas.openxmlformats.org/officeDocument/2006/relationships/slide" Target="slides/slide8.xml"/><Relationship Id="rId18" Type="http://schemas.openxmlformats.org/officeDocument/2006/relationships/slide" Target="slides/slide7.xml"/><Relationship Id="rId21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1828800" cy="13743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SEMINÁRIO TAES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90800"/>
            <a:ext cx="11000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F3A6B"/>
                </a:solidFill>
                <a:latin typeface="Arial"/>
              </a:rPr>
              <a:t>ObiOne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023360"/>
            <a:ext cx="1100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4A4A5A"/>
                </a:solidFill>
                <a:latin typeface="Arial"/>
              </a:rPr>
              <a:t>Um observatório de projetos viabilizado por IA generativa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663440"/>
            <a:ext cx="9144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8006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Autor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029200"/>
            <a:ext cx="8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6B"/>
                </a:solidFill>
                <a:latin typeface="Arial"/>
              </a:rPr>
              <a:t>Bruno Rocha · Cynthia Oliveira · Moisés Júnior · Raniel Silva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4864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Professor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715000"/>
            <a:ext cx="8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6B"/>
                </a:solidFill>
                <a:latin typeface="Arial"/>
              </a:rPr>
              <a:t>Prof. Ivaldir Honório de Farias Júnior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08076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Tópicos Avançados em Engenharia de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0936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Universidade de Pernambuco · Escola Politécnica de Pernambuco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53796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6B7A"/>
                </a:solidFill>
                <a:latin typeface="Arial"/>
              </a:rPr>
              <a:t>Recife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685800" cy="5486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7452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O problema e a solução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336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5A"/>
                </a:solidFill>
                <a:latin typeface="Arial"/>
              </a:rPr>
              <a:t>Por que um observatório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14600"/>
            <a:ext cx="685800" cy="5486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56032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A camada de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8194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5A"/>
                </a:solidFill>
                <a:latin typeface="Arial"/>
              </a:rPr>
              <a:t>IA assistiva, com revisão humana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00400"/>
            <a:ext cx="685800" cy="5486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0040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24612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Diferencial e reaproveitamento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052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5A"/>
                </a:solidFill>
                <a:latin typeface="Arial"/>
              </a:rPr>
              <a:t>Cliente com muralha e reuso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886200"/>
            <a:ext cx="685800" cy="5486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8620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93192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Experimento e valor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910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5A"/>
                </a:solidFill>
                <a:latin typeface="Arial"/>
              </a:rPr>
              <a:t>Método, resultados e entrega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Bruno Rocha · Cynthia Oliveira · Moisés Júnior · Raniel Silva · TAES · UPE/POLI · Julho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Bruno Rocha · Cynthia Oliveira · Moisés Júnior · Raniel Silva · TAES · UPE/POLI · Julho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3 / 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0261E"/>
                </a:solidFill>
                <a:latin typeface="Arial"/>
              </a:rPr>
              <a:t>O PROBLEMA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8046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Arial"/>
              </a:rPr>
              <a:t>O conhecimento dos projetos se perde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17373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B6372"/>
                </a:solidFill>
                <a:latin typeface="Arial"/>
              </a:rPr>
              <a:t>Consultorias vivem de conhecimento, e ele evapora entre um projeto e o outro.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2743200"/>
            <a:ext cx="3520440" cy="22860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F2A44"/>
                </a:solidFill>
                <a:latin typeface="Arial"/>
              </a:rPr>
              <a:t>Fica na cabeça das pessoas</a:t>
            </a:r>
          </a:p>
          <a:p>
            <a:pPr algn="ctr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 próximo projeto recomeça do zero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79392" y="2743200"/>
            <a:ext cx="3520440" cy="22860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F2A44"/>
                </a:solidFill>
                <a:latin typeface="Arial"/>
              </a:rPr>
              <a:t>Depende sempre dos mesmos</a:t>
            </a:r>
          </a:p>
          <a:p>
            <a:pPr algn="ctr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Só quem tem estrada liga os pontos entre projetos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55863" y="2743200"/>
            <a:ext cx="3520440" cy="22860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F2A44"/>
                </a:solidFill>
                <a:latin typeface="Arial"/>
              </a:rPr>
              <a:t>O cliente fica fora do laço</a:t>
            </a:r>
          </a:p>
          <a:p>
            <a:pPr algn="ctr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 não dá para abrir tudo entre clientes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Bruno Rocha · Cynthia Oliveira · Moisés Júnior · Raniel Silva · TAES · UPE/POLI · Julho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4 / 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0261E"/>
                </a:solidFill>
                <a:latin typeface="Arial"/>
              </a:rPr>
              <a:t>A SOLUÇÃO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8046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Arial"/>
              </a:rPr>
              <a:t>Um observatório que vira memória viva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17373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B6372"/>
                </a:solidFill>
                <a:latin typeface="Arial"/>
              </a:rPr>
              <a:t>O ciclo do valor, ancorado no MPO (Vieira, 2022), com comunidade e IA assistiva.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2834640"/>
            <a:ext cx="3017520" cy="114300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Observação</a:t>
            </a:r>
          </a:p>
        </p:txBody>
      </p:sp>
      <p:sp>
        <p:nvSpPr>
          <p:cNvPr id="40" name="Chevron 39"/>
          <p:cNvSpPr/>
          <p:nvPr/>
        </p:nvSpPr>
        <p:spPr>
          <a:xfrm>
            <a:off x="3858768" y="3218688"/>
            <a:ext cx="566928" cy="384048"/>
          </a:xfrm>
          <a:prstGeom prst="chevron">
            <a:avLst/>
          </a:prstGeom>
          <a:solidFill>
            <a:srgbClr val="E0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0" y="2834640"/>
            <a:ext cx="3017520" cy="114300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Discussão</a:t>
            </a:r>
          </a:p>
        </p:txBody>
      </p:sp>
      <p:sp>
        <p:nvSpPr>
          <p:cNvPr id="42" name="Chevron 41"/>
          <p:cNvSpPr/>
          <p:nvPr/>
        </p:nvSpPr>
        <p:spPr>
          <a:xfrm>
            <a:off x="7607808" y="3218688"/>
            <a:ext cx="566928" cy="384048"/>
          </a:xfrm>
          <a:prstGeom prst="chevron">
            <a:avLst/>
          </a:prstGeom>
          <a:solidFill>
            <a:srgbClr val="E0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321040" y="2834640"/>
            <a:ext cx="3017520" cy="114300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Conhecimento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" y="4617720"/>
            <a:ext cx="10515600" cy="868680"/>
          </a:xfrm>
          <a:prstGeom prst="roundRect">
            <a:avLst/>
          </a:prstGeom>
          <a:solidFill>
            <a:srgbClr val="F2F3F5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F2A44"/>
                </a:solidFill>
                <a:latin typeface="Arial"/>
              </a:rPr>
              <a:t>Vira base de conhecimento reaproveitável por projetos futuros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Bruno Rocha · Cynthia Oliveira · Moisés Júnior · Raniel Silva · TAES · UPE/POLI · Julho 2026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5 / 11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0261E"/>
                </a:solidFill>
                <a:latin typeface="Arial"/>
              </a:rPr>
              <a:t>A CAMADA DE IA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02920" y="8046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Arial"/>
              </a:rPr>
              <a:t>Assistiva, ancorada e auditável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02920" y="17373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B6372"/>
                </a:solidFill>
                <a:latin typeface="Arial"/>
              </a:rPr>
              <a:t>A IA acelera cada ponta do ciclo, sempre com o consultor no comando.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02920" y="2286000"/>
            <a:ext cx="5394960" cy="370332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31520" y="2487168"/>
            <a:ext cx="49377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E0261E"/>
                </a:solidFill>
                <a:latin typeface="Arial"/>
              </a:rPr>
              <a:t>PAPÉIS DA IA NO CICLO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450" b="1">
                <a:solidFill>
                  <a:srgbClr val="1F2A44"/>
                </a:solidFill>
                <a:latin typeface="Arial"/>
              </a:rPr>
              <a:t>Configuradora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No cadastro: propõe o domínio e o que acompanhar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450" b="1">
                <a:solidFill>
                  <a:srgbClr val="1F2A44"/>
                </a:solidFill>
                <a:latin typeface="Arial"/>
              </a:rPr>
              <a:t>Observadora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Sugere observações à luz do MPO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450" b="1">
                <a:solidFill>
                  <a:srgbClr val="1F2A44"/>
                </a:solidFill>
                <a:latin typeface="Arial"/>
              </a:rPr>
              <a:t>Sintetizadora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Consolida o aprendizado da conversa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450" b="1">
                <a:solidFill>
                  <a:srgbClr val="1F2A44"/>
                </a:solidFill>
                <a:latin typeface="Arial"/>
              </a:rPr>
              <a:t>Conectora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Sintetiza padrões entre projetos do domínio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309360" y="2286000"/>
            <a:ext cx="5394960" cy="370332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537960" y="2487168"/>
            <a:ext cx="49377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E0261E"/>
                </a:solidFill>
                <a:latin typeface="Arial"/>
              </a:rPr>
              <a:t>COMO CONFIAMOS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450" b="1">
                <a:solidFill>
                  <a:srgbClr val="1F2A44"/>
                </a:solidFill>
                <a:latin typeface="Arial"/>
              </a:rPr>
              <a:t>A IA propõe, o humano decide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Nunca escreve direto: o consultor revisa e publica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450" b="1">
                <a:solidFill>
                  <a:srgbClr val="1F2A44"/>
                </a:solidFill>
                <a:latin typeface="Arial"/>
              </a:rPr>
              <a:t>Grounding no MPO + saída estruturada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Responde no formato de dados e não inventa atributos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450" b="1">
                <a:solidFill>
                  <a:srgbClr val="1F2A44"/>
                </a:solidFill>
                <a:latin typeface="Arial"/>
              </a:rPr>
              <a:t>Proveniência registrada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Cada sugestão guarda provedor, modelo e momento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Bruno Rocha · Cynthia Oliveira · Moisés Júnior · Raniel Silva · TAES · UPE/POLI · Julho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6 / 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0261E"/>
                </a:solidFill>
                <a:latin typeface="Arial"/>
              </a:rPr>
              <a:t>O DIFERENCIAL · CLIENTE COM MURALHA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8046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Arial"/>
              </a:rPr>
              <a:t>O cliente dentro, sem ver os outros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965960"/>
            <a:ext cx="6949440" cy="4343400"/>
          </a:xfrm>
          <a:prstGeom prst="rect">
            <a:avLst/>
          </a:prstGeom>
          <a:ln w="15875">
            <a:solidFill>
              <a:srgbClr val="DDE1E7"/>
            </a:solidFill>
          </a:ln>
        </p:spPr>
      </p:pic>
      <p:sp>
        <p:nvSpPr>
          <p:cNvPr id="40" name="TextBox 39"/>
          <p:cNvSpPr txBox="1"/>
          <p:nvPr/>
        </p:nvSpPr>
        <p:spPr>
          <a:xfrm>
            <a:off x="502920" y="2468880"/>
            <a:ext cx="4114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0261E"/>
                </a:solidFill>
                <a:latin typeface="Arial"/>
              </a:rPr>
              <a:t>›  </a:t>
            </a:r>
            <a:r>
              <a:rPr sz="1500" b="0" i="0">
                <a:solidFill>
                  <a:srgbClr val="1F2A44"/>
                </a:solidFill>
                <a:latin typeface="Arial"/>
              </a:rPr>
              <a:t>Vê e acessa só o seu projeto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0261E"/>
                </a:solidFill>
                <a:latin typeface="Arial"/>
              </a:rPr>
              <a:t>›  </a:t>
            </a:r>
            <a:r>
              <a:rPr sz="1500" b="0" i="0">
                <a:solidFill>
                  <a:srgbClr val="1F2A44"/>
                </a:solidFill>
                <a:latin typeface="Arial"/>
              </a:rPr>
              <a:t>Participa da conversa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0261E"/>
                </a:solidFill>
                <a:latin typeface="Arial"/>
              </a:rPr>
              <a:t>›  </a:t>
            </a:r>
            <a:r>
              <a:rPr sz="1500" b="0" i="0">
                <a:solidFill>
                  <a:srgbClr val="1F2A44"/>
                </a:solidFill>
                <a:latin typeface="Arial"/>
              </a:rPr>
              <a:t>As novidades o trazem de volta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TextBox 35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Bruno Rocha · Cynthia Oliveira · Moisés Júnior · Raniel Silva · TAES · UPE/POLI · Julho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7 / 11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0261E"/>
                </a:solidFill>
                <a:latin typeface="Arial"/>
              </a:rPr>
              <a:t>REAPROVEITAMENTO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8046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Arial"/>
              </a:rPr>
              <a:t>O conhecimento atravessa projetos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17373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B6372"/>
                </a:solidFill>
                <a:latin typeface="Arial"/>
              </a:rPr>
              <a:t>Aprendizados de outros projetos afloram no domínio; a Conectora sintetiza padrões sob demanda.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9595" y="2377440"/>
            <a:ext cx="9509760" cy="3999194"/>
          </a:xfrm>
          <a:prstGeom prst="rect">
            <a:avLst/>
          </a:prstGeom>
          <a:ln w="15875">
            <a:solidFill>
              <a:srgbClr val="DDE1E7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TextBox 35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Bruno Rocha · Cynthia Oliveira · Moisés Júnior · Raniel Silva · TAES · UPE/POLI · Julho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8 / 11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0261E"/>
                </a:solidFill>
                <a:latin typeface="Arial"/>
              </a:rPr>
              <a:t>O EXPERIMENTO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8046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Arial"/>
              </a:rPr>
              <a:t>Design Science Research, avaliado em uso real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" y="2148840"/>
            <a:ext cx="2926080" cy="10515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Construir</a:t>
            </a:r>
          </a:p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o artefato</a:t>
            </a:r>
          </a:p>
        </p:txBody>
      </p:sp>
      <p:sp>
        <p:nvSpPr>
          <p:cNvPr id="44" name="Chevron 43"/>
          <p:cNvSpPr/>
          <p:nvPr/>
        </p:nvSpPr>
        <p:spPr>
          <a:xfrm>
            <a:off x="3767328" y="2514600"/>
            <a:ext cx="502920" cy="329184"/>
          </a:xfrm>
          <a:prstGeom prst="chevron">
            <a:avLst/>
          </a:prstGeom>
          <a:solidFill>
            <a:srgbClr val="8A9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626864" y="2148840"/>
            <a:ext cx="2926080" cy="10515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Demonstrar</a:t>
            </a:r>
          </a:p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em uso real</a:t>
            </a:r>
          </a:p>
        </p:txBody>
      </p:sp>
      <p:sp>
        <p:nvSpPr>
          <p:cNvPr id="46" name="Chevron 45"/>
          <p:cNvSpPr/>
          <p:nvPr/>
        </p:nvSpPr>
        <p:spPr>
          <a:xfrm>
            <a:off x="7571231" y="2514600"/>
            <a:ext cx="502920" cy="329184"/>
          </a:xfrm>
          <a:prstGeom prst="chevron">
            <a:avLst/>
          </a:prstGeom>
          <a:solidFill>
            <a:srgbClr val="8A9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430768" y="2148840"/>
            <a:ext cx="2926080" cy="10515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Avaliar</a:t>
            </a:r>
          </a:p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 percepção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960" y="3657600"/>
            <a:ext cx="5074920" cy="141732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300"/>
              </a:spcAft>
            </a:pPr>
            <a:r>
              <a:rPr sz="1450" b="1">
                <a:solidFill>
                  <a:srgbClr val="E0261E"/>
                </a:solidFill>
                <a:latin typeface="Arial"/>
              </a:rPr>
              <a:t>Instrumento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F2A44"/>
                </a:solidFill>
                <a:latin typeface="Arial"/>
              </a:rPr>
              <a:t>12 afirmações Likert (1 a 5) e 3 perguntas abertas, após um walkthrough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3640" y="3657600"/>
            <a:ext cx="5074920" cy="141732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300"/>
              </a:spcAft>
            </a:pPr>
            <a:r>
              <a:rPr sz="1450" b="1">
                <a:solidFill>
                  <a:srgbClr val="E0261E"/>
                </a:solidFill>
                <a:latin typeface="Arial"/>
              </a:rPr>
              <a:t>Amostra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F2A44"/>
                </a:solidFill>
                <a:latin typeface="Arial"/>
              </a:rPr>
              <a:t>2 rodadas de 4 consultores (N=8), uma consultoria real; 2ª rodada após onboarding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8A909C"/>
                </a:solidFill>
                <a:latin typeface="Arial"/>
              </a:rPr>
              <a:t>Perspectiva do consultor. Reportado como casos, sem inferência estatística.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TextBox 35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Bruno Rocha · Cynthia Oliveira · Moisés Júnior · Raniel Silva · TAES · UPE/POLI · Julho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9 / 11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0261E"/>
                </a:solidFill>
                <a:latin typeface="Arial"/>
              </a:rPr>
              <a:t>RESULTADOS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8046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Arial"/>
              </a:rPr>
              <a:t>Valor percebido, com um ponto de atenção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2148840"/>
            <a:ext cx="3520440" cy="196596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2148840"/>
            <a:ext cx="3520440" cy="10972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2404872"/>
            <a:ext cx="3520440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200" b="1" i="0">
                <a:solidFill>
                  <a:srgbClr val="1F2A44"/>
                </a:solidFill>
                <a:latin typeface="Arial"/>
              </a:rPr>
              <a:t>4,3 / 5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5B6372"/>
                </a:solidFill>
                <a:latin typeface="Arial"/>
              </a:rPr>
              <a:t>média acumulada (8 consultores)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79392" y="2148840"/>
            <a:ext cx="3520440" cy="196596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79392" y="2148840"/>
            <a:ext cx="3520440" cy="10972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79392" y="2404872"/>
            <a:ext cx="3520440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200" b="1" i="0">
                <a:solidFill>
                  <a:srgbClr val="1F2A44"/>
                </a:solidFill>
                <a:latin typeface="Arial"/>
              </a:rPr>
              <a:t>N = 8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5B6372"/>
                </a:solidFill>
                <a:latin typeface="Arial"/>
              </a:rPr>
              <a:t>2 rodadas de 4 · uma consultoria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55863" y="2148840"/>
            <a:ext cx="3520440" cy="196596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55863" y="2148840"/>
            <a:ext cx="3520440" cy="10972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55863" y="2404872"/>
            <a:ext cx="3520440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200" b="1" i="0">
                <a:solidFill>
                  <a:srgbClr val="1F2A44"/>
                </a:solidFill>
                <a:latin typeface="Arial"/>
              </a:rPr>
              <a:t>83%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5B6372"/>
                </a:solidFill>
                <a:latin typeface="Arial"/>
              </a:rPr>
              <a:t>das respostas foram nota 4 ou 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43434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44"/>
                </a:solidFill>
                <a:latin typeface="Arial"/>
              </a:rPr>
              <a:t>1ª rodada 4,48; a 2ª foi mais crítica (4,1). Aprendizados e governança no topo (5,0 na 1ª rodada); clareza estável em 3,8, a fronteira de adoção.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3492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1">
                <a:solidFill>
                  <a:srgbClr val="5B6372"/>
                </a:solidFill>
                <a:latin typeface="Arial"/>
              </a:rPr>
              <a:t>Nas respostas abertas o valor apareceu no aprendizado consolidado com IA; as críticas convergem para clareza e navegação.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TextBox 35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Bruno Rocha · Cynthia Oliveira · Moisés Júnior · Raniel Silva · TAES · UPE/POLI · Julho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10 / 11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0261E"/>
                </a:solidFill>
                <a:latin typeface="Arial"/>
              </a:rPr>
              <a:t>VALOR ENTREGUE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8046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Arial"/>
              </a:rPr>
              <a:t>A jornada roda de ponta a ponta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2788920"/>
            <a:ext cx="2606040" cy="13716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2E7D5B"/>
                </a:solidFill>
                <a:latin typeface="Arial"/>
              </a:rPr>
              <a:t>✓</a:t>
            </a:r>
          </a:p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F2A44"/>
                </a:solidFill>
                <a:latin typeface="Arial"/>
              </a:rPr>
              <a:t>Isolamento do cliente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10128" y="2788920"/>
            <a:ext cx="2606040" cy="13716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2E7D5B"/>
                </a:solidFill>
                <a:latin typeface="Arial"/>
              </a:rPr>
              <a:t>✓</a:t>
            </a:r>
          </a:p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F2A44"/>
                </a:solidFill>
                <a:latin typeface="Arial"/>
              </a:rPr>
              <a:t>Reaproveitamento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17336" y="2788920"/>
            <a:ext cx="2606040" cy="13716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2E7D5B"/>
                </a:solidFill>
                <a:latin typeface="Arial"/>
              </a:rPr>
              <a:t>✓</a:t>
            </a:r>
          </a:p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F2A44"/>
                </a:solidFill>
                <a:latin typeface="Arial"/>
              </a:rPr>
              <a:t>Engajamento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24544" y="2788920"/>
            <a:ext cx="2606040" cy="13716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2E7D5B"/>
                </a:solidFill>
                <a:latin typeface="Arial"/>
              </a:rPr>
              <a:t>✓</a:t>
            </a:r>
          </a:p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F2A44"/>
                </a:solidFill>
                <a:latin typeface="Arial"/>
              </a:rPr>
              <a:t>IA copiloto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47548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2A44"/>
                </a:solidFill>
                <a:latin typeface="Arial"/>
              </a:rPr>
              <a:t>Replicável e demoável. </a:t>
            </a:r>
            <a:r>
              <a:rPr sz="1600" b="0" i="0">
                <a:solidFill>
                  <a:srgbClr val="5B6372"/>
                </a:solidFill>
                <a:latin typeface="Arial"/>
              </a:rPr>
              <a:t>A seguir: navegação guiada e avaliação da fidelidade da extração do MPO.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1000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1F3A6B"/>
                </a:solidFill>
                <a:latin typeface="Arial"/>
              </a:rPr>
              <a:t>Obrigado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429000"/>
            <a:ext cx="9144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566160"/>
            <a:ext cx="1100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4A4A5A"/>
                </a:solidFill>
                <a:latin typeface="Arial"/>
              </a:rPr>
              <a:t>Veremos ao vivo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08076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Bruno Rocha · Cynthia Oliveira · Moisés Júnior · Raniel Silva  ·  TAES  ·  UPE/POLI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0936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Orientador: Prof. Ivaldir Honório de Farias Júnior  ·  Recife, Julho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