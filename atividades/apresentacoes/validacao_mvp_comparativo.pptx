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2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3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685800"/>
            <a:ext cx="1307592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5915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</a:rPr>
              <a:t>TÓPICOS AVANÇADOS EM ENGENHARIA DE SOFTWARE · UPE/POLI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2761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3D6D"/>
                </a:solidFill>
              </a:rPr>
              <a:t>ObiOne · Observatório-Comunidade de Projetos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5A5F6A"/>
                </a:solidFill>
              </a:rPr>
              <a:t>Validação</a:t>
            </a:r>
            <a:r>
              <a:rPr lang="en-US" sz="1800" i="1" dirty="0">
                <a:solidFill>
                  <a:srgbClr val="5A5F6A"/>
                </a:solidFill>
              </a:rPr>
              <a:t> do MVP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4828032"/>
            <a:ext cx="91440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001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2529"/>
                </a:solidFill>
              </a:rPr>
              <a:t>Equipe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5285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D6D"/>
                </a:solidFill>
              </a:rPr>
              <a:t>Bruno Rocha · Cynthia Oliveira · Moisés Júnior · Raniel Silva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5733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2529"/>
                </a:solidFill>
              </a:rPr>
              <a:t>Professor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6007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D6D"/>
                </a:solidFill>
              </a:rPr>
              <a:t>Prof. Ivaldir Honório de Farias Júnior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635508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F6A"/>
                </a:solidFill>
              </a:rPr>
              <a:t>PPGEC · Universidade de Pernambuco · Recife, Junho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REPORT 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3D6D"/>
                </a:solidFill>
              </a:rPr>
              <a:t>Agenda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2 / 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52529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6D"/>
                </a:solidFill>
              </a:rPr>
              <a:t>O que foi validado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30063" y="1838117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A"/>
                </a:solidFill>
              </a:rPr>
              <a:t>objetivo, público e instrumento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633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52529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79" y="2615184"/>
            <a:ext cx="3522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6D"/>
                </a:solidFill>
              </a:rPr>
              <a:t>Como a </a:t>
            </a:r>
            <a:r>
              <a:rPr lang="en-US" sz="1700" b="1" dirty="0" err="1">
                <a:solidFill>
                  <a:srgbClr val="1E3D6D"/>
                </a:solidFill>
              </a:rPr>
              <a:t>validação</a:t>
            </a:r>
            <a:r>
              <a:rPr lang="en-US" sz="1700" b="1" dirty="0">
                <a:solidFill>
                  <a:srgbClr val="1E3D6D"/>
                </a:solidFill>
              </a:rPr>
              <a:t> foi conduzida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030063" y="2642789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A"/>
                </a:solidFill>
              </a:rPr>
              <a:t>walkthrough curto + questionário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34381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52529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588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Resultados comparativos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30063" y="3447461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mês anterior vs mês atual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42428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52529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25880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O que muda no MVP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30063" y="4252133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ajustes antes da próxima rodada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 que a validação comparativa buscou responder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Após os testes iniciais, o ObiOne evoluiu em clareza, valor percebido e intenção de uso?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3 / 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8368" y="1956816"/>
            <a:ext cx="4526280" cy="342900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212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D6D"/>
                </a:solidFill>
              </a:rPr>
              <a:t>Objetivo da pesquisa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688336"/>
            <a:ext cx="388620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0">
              <a:buNone/>
            </a:pPr>
            <a:r>
              <a:t>Comparar a primeira validação com a nova rodada após testes iniciais.</a:t>
            </a:r>
            <a:endParaRPr lang="en-US" sz="1300" dirty="0"/>
          </a:p>
          <a:p>
            <a:pPr marL="342900"/>
            <a:r>
              <a:t>Verificar se clareza, organização e utilidade se mantêm ou evoluem.</a:t>
            </a:r>
          </a:p>
          <a:p>
            <a:pPr marL="342900"/>
            <a:r>
              <a:t>Identificar sinais de valor percebido, diferenciação e intenção de uso.</a:t>
            </a:r>
          </a:p>
          <a:p>
            <a:pPr marL="342900"/>
            <a:r>
              <a:t>Priorizar melhorias antes de ampliar a validação.</a:t>
            </a:r>
          </a:p>
        </p:txBody>
      </p:sp>
      <p:pic>
        <p:nvPicPr>
          <p:cNvPr id="12" name="Image 1" descr="/mnt/data/ppt_assets/tela_inicial.png"/>
          <p:cNvPicPr>
            <a:picLocks noChangeAspect="1"/>
          </p:cNvPicPr>
          <p:nvPr/>
        </p:nvPicPr>
        <p:blipFill>
          <a:blip r:embed="rId4"/>
          <a:srcRect t="955" b="955"/>
          <a:stretch/>
        </p:blipFill>
        <p:spPr>
          <a:xfrm>
            <a:off x="5532120" y="1920240"/>
            <a:ext cx="5715000" cy="3520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57150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Fonte: respostas da pesquisa de validação do MVP ObiOne. Leitura exploratória: 8 participantes em dois ciclos de 4 casos.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3D6D"/>
                </a:solidFill>
              </a:rPr>
              <a:t>Como a validação foi conduzida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Duas rodadas de validação, com 4 participantes em cada ciclo.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4 / 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" y="2057400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2402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2529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1ª validação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 respostas iniciais após walkthrough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91256" y="2743200"/>
            <a:ext cx="201168" cy="320040"/>
          </a:xfrm>
          <a:prstGeom prst="chevron">
            <a:avLst/>
          </a:prstGeom>
          <a:solidFill>
            <a:srgbClr val="E52529">
              <a:alpha val="90000"/>
            </a:srgbClr>
          </a:solidFill>
          <a:ln w="12700">
            <a:solidFill>
              <a:srgbClr val="E52529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5304" y="2057400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58184" y="22402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2529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58184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Nova validação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758184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 respostas após testes e ajustes iniciais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9320" y="2743200"/>
            <a:ext cx="201168" cy="320040"/>
          </a:xfrm>
          <a:prstGeom prst="chevron">
            <a:avLst/>
          </a:prstGeom>
          <a:solidFill>
            <a:srgbClr val="E52529">
              <a:alpha val="90000"/>
            </a:srgbClr>
          </a:solidFill>
          <a:ln w="12700">
            <a:solidFill>
              <a:srgbClr val="E52529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73368" y="2057400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22402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2529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56248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Instrumento único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56248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12 afirmações Likert + 3 abertas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87384" y="2743200"/>
            <a:ext cx="201168" cy="320040"/>
          </a:xfrm>
          <a:prstGeom prst="chevron">
            <a:avLst/>
          </a:prstGeom>
          <a:solidFill>
            <a:srgbClr val="E52529">
              <a:alpha val="90000"/>
            </a:srgbClr>
          </a:solidFill>
          <a:ln w="12700">
            <a:solidFill>
              <a:srgbClr val="E52529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71432" y="2057400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22402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2529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54312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Leitura comparativa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354312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Comparar média, respostas positivas e dimensões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1248" y="4754880"/>
            <a:ext cx="10332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t>Instrumento aplicado: 12 dimensões fechadas + 3 abertas. A análise compara os 4 primeiros respondentes da primeira validação com os 4 últimos da nova validação.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Perfil dos participantes por rodada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Comparativo entre a primeira validação e a nova validação após testes iniciais.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5 / 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22768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 + 4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1832" y="2715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participantes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1832" y="299008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mês anterior + atual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54680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272" y="22768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7 consultores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19272" y="2715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1 gestor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19272" y="299008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perfil total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32120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96712" y="22768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Trello + Planilhas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96712" y="2715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principais ferramentas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96712" y="299008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 Trello | 3 Planilhas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909560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74152" y="22768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Médio predominante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074152" y="2715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familiaridade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074152" y="2990088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5 médio | 2 alto | 1 baixo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77240" y="4069080"/>
            <a:ext cx="9235440" cy="1097280"/>
          </a:xfrm>
          <a:prstGeom prst="rect">
            <a:avLst/>
          </a:prstGeom>
          <a:solidFill>
            <a:srgbClr val="F3F5F8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D6D"/>
                </a:solidFill>
              </a:rPr>
              <a:t>Leitura metodológica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383280" y="42702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t>A nova rodada ampliou a diversidade do piloto: entrou 1 administrador/gestor e mais usuários de planilhas. A leitura continua exploratória, mas já permite comparar sinais entre ciclos.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INICIAIS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Sinal geral da validação comparativa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 mês atual manteve percepção positiva, mas com queda frente ao ciclo anterior.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6 / 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" y="21488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22768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4,5 → 4,1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41832" y="27157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média geral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1832" y="2990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mês anterior vs atual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83280" y="21488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22768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44/48 → 36/48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47872" y="27157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respostas positivas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47872" y="2990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notas 4 ou 5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21488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22768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29/48 → 19/48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53912" y="27157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notas máximas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53912" y="2990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concordo totalmente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595360" y="214884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DB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59952" y="2276856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4,3 / 5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759952" y="271576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média acumulada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59952" y="29900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8 participantes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4672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3D6D"/>
                </a:solidFill>
              </a:rPr>
              <a:t>Atenção</a:t>
            </a:r>
            <a:r>
              <a:rPr lang="en-US" sz="1600" b="1" dirty="0">
                <a:solidFill>
                  <a:srgbClr val="1E3D6D"/>
                </a:solidFill>
              </a:rPr>
              <a:t>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2960" y="46177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t>O MVP segue com aceitação positiva no acumulado, mas a nova rodada trouxe uma leitura mais crítica: média 4,1/5, 75% de respostas positivas e menor volume de notas máximas. O principal foco agora é reduzir dúvidas de navegação, explicação das funcionalidades e clareza de 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INICIAIS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3D6D"/>
                </a:solidFill>
              </a:rPr>
              <a:t>Resultados por dimensão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48132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>
                <a:solidFill>
                  <a:srgbClr val="000000"/>
                </a:solidFill>
              </a:rPr>
              <a:t>Comparativo por dimensão (escala 1–5)</a:t>
            </a:r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7 / 11</a:t>
            </a:r>
            <a:endParaRPr lang="en-US" sz="8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783080"/>
          <a:ext cx="4434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68680"/>
                <a:gridCol w="868680"/>
                <a:gridCol w="685800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Anterior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Atual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Clareza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0,0</a:t>
                      </a:r>
                    </a:p>
                  </a:txBody>
                  <a:tcPr>
                    <a:solidFill>
                      <a:srgbClr val="EBF9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Organização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-0,8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Usabilidade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0,0</a:t>
                      </a:r>
                    </a:p>
                  </a:txBody>
                  <a:tcPr>
                    <a:solidFill>
                      <a:srgbClr val="EBF9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Conteúdo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0,0</a:t>
                      </a:r>
                    </a:p>
                  </a:txBody>
                  <a:tcPr>
                    <a:solidFill>
                      <a:srgbClr val="EBF9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Diferenciação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-0,5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Ciclo conhecimento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+0,2</a:t>
                      </a:r>
                    </a:p>
                  </a:txBody>
                  <a:tcPr>
                    <a:solidFill>
                      <a:srgbClr val="EBF9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783080"/>
          <a:ext cx="4434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68680"/>
                <a:gridCol w="868680"/>
                <a:gridCol w="685800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Anterior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Atual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3C71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Comunidade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-0,5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Aprendizados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5,0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-0,8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IA assistiva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-0,5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Portfólio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0,0</a:t>
                      </a:r>
                    </a:p>
                  </a:txBody>
                  <a:tcPr>
                    <a:solidFill>
                      <a:srgbClr val="EBF9F2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Governança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-1,2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3C71"/>
                          </a:solidFill>
                        </a:rPr>
                        <a:t>Intenção de uso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5A5E69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3C71"/>
                          </a:solidFill>
                        </a:rPr>
                        <a:t>4,0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A5E69"/>
                          </a:solidFill>
                        </a:rPr>
                        <a:t>-0,2</a:t>
                      </a:r>
                    </a:p>
                  </a:txBody>
                  <a:tcPr>
                    <a:solidFill>
                      <a:srgbClr val="FCF5E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" y="4617720"/>
            <a:ext cx="10424160" cy="822960"/>
          </a:xfrm>
          <a:prstGeom prst="rect">
            <a:avLst/>
          </a:prstGeom>
          <a:solidFill>
            <a:srgbClr val="F7F9FC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r>
              <a:rPr sz="1300">
                <a:solidFill>
                  <a:srgbClr val="5A5E69"/>
                </a:solidFill>
              </a:rPr>
              <a:t>Leitura executiva: o mês atual manteve médias positivas, mas ficou mais crítico em governança, organização, aprendizados e comunidade. Conteúdo, usabilidade, portfólio e clareza ficaram estáveis; ciclo de conhecimento evoluiu.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A5E69"/>
                </a:solidFill>
              </a:rPr>
              <a:t>Fonte: 4 primeiros respondentes = primeira validação; 4 últimos respondentes = nova validação.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QUALITATIVAS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 que mudou nas respostas abertas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 nova rodada reforça o valor da IA e mantém o alerta de orientação inicial.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8 / 11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1305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FORÇA ATUAL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1560" y="23591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“O aprendizado consolidado através da IA.”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77063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 IA passou a aparecer como diferencial percebido.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0760" y="196596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1305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VALOR PERCEBIDO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309360" y="23591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“Muito amigável” e “integra tecnologia e educação”.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277063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 produto é percebido como simples e útil para aprendizado.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365760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FFF7E6"/>
          </a:solidFill>
          <a:ln w="12700">
            <a:solidFill>
              <a:srgbClr val="F3C5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ALERTA RECORRENTE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51560" y="4050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“Ficou um pouco confusa a explicação sobre algumas funcionalidades.”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622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 clareza inicial ainda limita o primeiro uso.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365760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MELHORIA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09360" y="4050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“Navegação mais intuitiva, instruções mais claras e interface mais simples.”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446227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Prioridade: onboarding, menu, botão de início/voltar e exemplos práticos.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7">
            <a:extLst>
              <a:ext uri="{FF2B5EF4-FFF2-40B4-BE49-F238E27FC236}">
                <a16:creationId xmlns:a16="http://schemas.microsoft.com/office/drawing/2014/main" id="{E4281F19-DED5-C561-43E6-D93F25F40BE4}"/>
              </a:ext>
            </a:extLst>
          </p:cNvPr>
          <p:cNvSpPr/>
          <p:nvPr/>
        </p:nvSpPr>
        <p:spPr>
          <a:xfrm>
            <a:off x="822960" y="5026871"/>
            <a:ext cx="923544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IMPLICAÇÕES PARA O MVP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 que os resultados comparativos indicam para o produto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 PoC confirma valor, mas mostra que a experiência precisa ser mais guiada.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9 / 11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22960" y="20756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2529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Onboarding e vídeo curto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20440" y="20848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Explicar o objetivo, as comunidades e as funcionalidades com exemplos práticos.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882396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2529"/>
                </a:solidFill>
              </a:rPr>
              <a:t>Alta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2834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2529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2816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Navegação guiada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20440" y="28437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Criar menu mais evidente, botão início/voltar e fluxo em etapas.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8823960" y="2816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2529"/>
                </a:solidFill>
              </a:rPr>
              <a:t>Alta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35935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2529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35753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IA mais acionável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20440" y="360273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Tornar o botão de IA visível e explicar quando ela sugere aprendizados.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8823960" y="3575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D6D"/>
                </a:solidFill>
              </a:rPr>
              <a:t>Média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43525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2529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3342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Governança e papéis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520440" y="43616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Reforçar o que cada perfil enxerga e como participa no ObiOne.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8823960" y="4334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D6D"/>
                </a:solidFill>
              </a:rPr>
              <a:t>Média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97280" y="5276088"/>
            <a:ext cx="9090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 segunda rodada mostrou que o valor existe, mas a adoção depende de reduzir esforço de entendimento no primeiro contato.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0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6868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4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329184"/>
            <a:ext cx="80467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F6A"/>
                </a:solidFill>
              </a:rPr>
              <a:t>Equipe ObiOne · Doutorado PPGEC · UPE/POLI · Junho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E3D6D"/>
                </a:solidFill>
              </a:rPr>
              <a:t>O que temos e o que falta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1208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Síntese executiva do comparativo e próximos passos.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A5F6A"/>
                </a:solidFill>
              </a:rPr>
              <a:t>10 / 11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68680" y="2148840"/>
            <a:ext cx="88696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0">
              <a:buNone/>
            </a:pPr>
            <a:r>
              <a:t>Foram analisadas 8 respostas: 4 da primeira validação e 4 da nova validação após testes iniciais.</a:t>
            </a:r>
            <a:endParaRPr lang="en-US" sz="1400" dirty="0"/>
          </a:p>
          <a:p>
            <a:pPr marL="342900"/>
            <a:r>
              <a:t>A média geral acumulada ficou em 4,3/5, com 80 de 96 respostas positivas.</a:t>
            </a:r>
          </a:p>
          <a:p>
            <a:pPr marL="342900"/>
            <a:r>
              <a:t>O mês atual manteve aceitação positiva, mas reduziu média e notas máximas frente ao mês anterior.</a:t>
            </a:r>
          </a:p>
          <a:p>
            <a:pPr marL="342900"/>
            <a:r>
              <a:t>O próximo ajuste deve focar onboarding, navegação, explicação das funcionalidades e papel da IA.</a:t>
            </a:r>
          </a:p>
        </p:txBody>
      </p:sp>
      <p:sp>
        <p:nvSpPr>
          <p:cNvPr id="10" name="Shape 7"/>
          <p:cNvSpPr/>
          <p:nvPr/>
        </p:nvSpPr>
        <p:spPr>
          <a:xfrm>
            <a:off x="868680" y="4663440"/>
            <a:ext cx="9235440" cy="86868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882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D6D"/>
                </a:solidFill>
              </a:rPr>
              <a:t>Decisão sugerida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54680" y="48828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t>Continuar a PoC, aplicar ajustes de experiência inicial e realizar nova rodada com amostra ampliada para verificar recuperação dos indicadores.</a:t>
            </a:r>
            <a:endParaRPr lang="en-US" sz="12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0"/>
            <a:ext cx="228600" cy="6858000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pic>
        <p:nvPicPr>
          <p:cNvPr id="3" name="Image 0" descr="/mnt/data/ppt_assets/u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457200"/>
            <a:ext cx="822960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514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3D6D"/>
                </a:solidFill>
              </a:rPr>
              <a:t>Obrigado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685800" y="3611880"/>
            <a:ext cx="914400" cy="32004"/>
          </a:xfrm>
          <a:prstGeom prst="rect">
            <a:avLst/>
          </a:prstGeom>
          <a:solidFill>
            <a:srgbClr val="E52529"/>
          </a:solidFill>
          <a:ln w="12700">
            <a:solidFill>
              <a:srgbClr val="E525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22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F6A"/>
                </a:solidFill>
              </a:rPr>
              <a:t>Discussão e perguntas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F6A"/>
                </a:solidFill>
              </a:rPr>
              <a:t>Bruno Rocha · Cynthia Oliveira · Moisés Júnior · Raniel Silva · Doutorado PPGEC · UPE/POLI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F6A"/>
                </a:solidFill>
              </a:rPr>
              <a:t>Orientador: Prof. Ivaldir Honório de Farias Júnior · Recife, Junho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1025</Words>
  <Application>Microsoft Office PowerPoint</Application>
  <PresentationFormat>Widescreen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UPE/POLI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ObiOne - Validação da PoC do MVP</dc:title>
  <dc:subject>PoC MVP ObiOne</dc:subject>
  <dc:creator>Equipe ObiOne</dc:creator>
  <cp:lastModifiedBy>Cynthia Oliveira</cp:lastModifiedBy>
  <cp:revision>3</cp:revision>
  <dcterms:created xsi:type="dcterms:W3CDTF">2026-06-26T15:47:24Z</dcterms:created>
  <dcterms:modified xsi:type="dcterms:W3CDTF">2026-06-26T16:01:06Z</dcterms:modified>
</cp:coreProperties>
</file>