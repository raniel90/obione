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8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221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mnt/data/ppt_assets/up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685800"/>
            <a:ext cx="1307592" cy="9326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2359152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2529"/>
                </a:solidFill>
              </a:rPr>
              <a:t>TÓPICOS AVANÇADOS EM ENGENHARIA DE SOFTWARE · UPE/POLI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5800" y="276148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E3D6D"/>
                </a:solidFill>
              </a:rPr>
              <a:t>ObiOne · Observatório-Comunidade de Projetos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85800" y="4160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 err="1">
                <a:solidFill>
                  <a:srgbClr val="5A5F6A"/>
                </a:solidFill>
              </a:rPr>
              <a:t>Validação</a:t>
            </a:r>
            <a:r>
              <a:rPr lang="en-US" sz="1800" i="1" dirty="0">
                <a:solidFill>
                  <a:srgbClr val="5A5F6A"/>
                </a:solidFill>
              </a:rPr>
              <a:t> do MVP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85800" y="4828032"/>
            <a:ext cx="914400" cy="32004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85800" y="50017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52529"/>
                </a:solidFill>
              </a:rPr>
              <a:t>Equipe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528523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E3D6D"/>
                </a:solidFill>
              </a:rPr>
              <a:t>Bruno Rocha · Cynthia Oliveira · Moisés Júnior · Raniel Silva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57332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52529"/>
                </a:solidFill>
              </a:rPr>
              <a:t>Professor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85800" y="6007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E3D6D"/>
                </a:solidFill>
              </a:rPr>
              <a:t>Prof. Ivaldir Honório de Farias Júnior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635508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5F6A"/>
                </a:solidFill>
              </a:rPr>
              <a:t>PPGEC · Universidade de Pernambuco · Recife, Junho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0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REPORT 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68680" cy="32004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mnt/data/ppt_assets/up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648" y="329184"/>
            <a:ext cx="804672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F6A"/>
                </a:solidFill>
              </a:rPr>
              <a:t>Equipe ObiOne · Doutorado PPGEC · UPE/POLI · Junho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E3D6D"/>
                </a:solidFill>
              </a:rPr>
              <a:t>Agenda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F6A"/>
                </a:solidFill>
              </a:rPr>
              <a:t>2 / 12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77240" y="1828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52529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2588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D6D"/>
                </a:solidFill>
              </a:rPr>
              <a:t>O que foi validado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030063" y="1838117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F6A"/>
                </a:solidFill>
              </a:rPr>
              <a:t>objetivo, público e instrumento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" y="26334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52529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325879" y="2615184"/>
            <a:ext cx="3522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D6D"/>
                </a:solidFill>
              </a:rPr>
              <a:t>Como a </a:t>
            </a:r>
            <a:r>
              <a:rPr lang="en-US" sz="1700" b="1" dirty="0" err="1">
                <a:solidFill>
                  <a:srgbClr val="1E3D6D"/>
                </a:solidFill>
              </a:rPr>
              <a:t>validação</a:t>
            </a:r>
            <a:r>
              <a:rPr lang="en-US" sz="1700" b="1" dirty="0">
                <a:solidFill>
                  <a:srgbClr val="1E3D6D"/>
                </a:solidFill>
              </a:rPr>
              <a:t> foi conduzida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030063" y="2642789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F6A"/>
                </a:solidFill>
              </a:rPr>
              <a:t>walkthrough curto + questionário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43814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52529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325880" y="3419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Resultados comparativos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5030063" y="3447461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mês anterior vs mês atual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77240" y="424281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52529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325880" y="42245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O que muda no MVP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5030063" y="4252133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ajustes antes da próxima rodada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0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68680" cy="32004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mnt/data/ppt_assets/up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648" y="329184"/>
            <a:ext cx="804672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F6A"/>
                </a:solidFill>
              </a:rPr>
              <a:t>Equipe ObiOne · Doutorado PPGEC · UPE/POLI · Junho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O que a validação comparativa buscou responder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21208" y="157276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Após os testes iniciais, o ObiOne evoluiu em clareza, valor percebido e intenção de uso?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F6A"/>
                </a:solidFill>
              </a:rPr>
              <a:t>3 / 12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658368" y="1956816"/>
            <a:ext cx="4526280" cy="3429000"/>
          </a:xfrm>
          <a:prstGeom prst="rect">
            <a:avLst/>
          </a:prstGeom>
          <a:solidFill>
            <a:srgbClr val="F3F5F8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14400" y="22128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D6D"/>
                </a:solidFill>
              </a:rPr>
              <a:t>Objetivo da pesquisa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14400" y="2688336"/>
            <a:ext cx="3886200" cy="2240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0">
              <a:buNone/>
            </a:pPr>
            <a:r>
              <a:t>Comparar a primeira validação com a nova rodada após testes iniciais.</a:t>
            </a:r>
            <a:endParaRPr lang="en-US" sz="1300" dirty="0"/>
          </a:p>
          <a:p>
            <a:pPr marL="342900"/>
            <a:r>
              <a:t>Verificar se clareza, organização e utilidade se mantêm ou evoluem.</a:t>
            </a:r>
          </a:p>
          <a:p>
            <a:pPr marL="342900"/>
            <a:r>
              <a:t>Identificar sinais de valor percebido, diferenciação e intenção de uso.</a:t>
            </a:r>
          </a:p>
          <a:p>
            <a:pPr marL="342900"/>
            <a:r>
              <a:t>Priorizar melhorias antes de ampliar a validação.</a:t>
            </a:r>
          </a:p>
        </p:txBody>
      </p:sp>
      <p:pic>
        <p:nvPicPr>
          <p:cNvPr id="12" name="Image 1" descr="/mnt/data/ppt_assets/tela_inicial.png"/>
          <p:cNvPicPr>
            <a:picLocks noChangeAspect="1"/>
          </p:cNvPicPr>
          <p:nvPr/>
        </p:nvPicPr>
        <p:blipFill>
          <a:blip r:embed="rId4"/>
          <a:srcRect t="955" b="955"/>
          <a:stretch/>
        </p:blipFill>
        <p:spPr>
          <a:xfrm>
            <a:off x="5532120" y="1920240"/>
            <a:ext cx="5715000" cy="35204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85800" y="57150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Fonte: respostas da pesquisa de validação do MVP ObiOne. Leitura exploratória: 8 participantes em dois ciclos de 4 casos.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0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68680" cy="32004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mnt/data/ppt_assets/up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648" y="329184"/>
            <a:ext cx="804672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F6A"/>
                </a:solidFill>
              </a:rPr>
              <a:t>Equipe ObiOne · Doutorado PPGEC · UPE/POLI · Junho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E3D6D"/>
                </a:solidFill>
              </a:rPr>
              <a:t>Como a validação foi conduzida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21208" y="157276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Duas rodadas de validação, com 4 participantes em cada ciclo.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F6A"/>
                </a:solidFill>
              </a:rPr>
              <a:t>4 / 12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057400"/>
            <a:ext cx="23317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60120" y="22402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52529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60120" y="26974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1ª validação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60120" y="31546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4 respostas iniciais após walkthrough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191256" y="2743200"/>
            <a:ext cx="201168" cy="320040"/>
          </a:xfrm>
          <a:prstGeom prst="chevron">
            <a:avLst/>
          </a:prstGeom>
          <a:solidFill>
            <a:srgbClr val="E52529">
              <a:alpha val="90000"/>
            </a:srgbClr>
          </a:solidFill>
          <a:ln w="12700">
            <a:solidFill>
              <a:srgbClr val="E52529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3575304" y="2057400"/>
            <a:ext cx="23317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58184" y="22402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52529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758184" y="26974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Nova validação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758184" y="31546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4 respostas após testes e ajustes iniciais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989320" y="2743200"/>
            <a:ext cx="201168" cy="320040"/>
          </a:xfrm>
          <a:prstGeom prst="chevron">
            <a:avLst/>
          </a:prstGeom>
          <a:solidFill>
            <a:srgbClr val="E52529">
              <a:alpha val="90000"/>
            </a:srgbClr>
          </a:solidFill>
          <a:ln w="12700">
            <a:solidFill>
              <a:srgbClr val="E52529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6373368" y="2057400"/>
            <a:ext cx="23317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556248" y="22402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52529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56248" y="26974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Instrumento único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56248" y="31546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12 afirmações Likert + 3 abertas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787384" y="2743200"/>
            <a:ext cx="201168" cy="320040"/>
          </a:xfrm>
          <a:prstGeom prst="chevron">
            <a:avLst/>
          </a:prstGeom>
          <a:solidFill>
            <a:srgbClr val="E52529">
              <a:alpha val="90000"/>
            </a:srgbClr>
          </a:solidFill>
          <a:ln w="12700">
            <a:solidFill>
              <a:srgbClr val="E52529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9171432" y="2057400"/>
            <a:ext cx="23317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9354312" y="22402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52529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354312" y="26974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Leitura comparativa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9354312" y="31546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Comparar média, respostas positivas e dimensões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41248" y="4754880"/>
            <a:ext cx="1033272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t>Instrumento aplicado: 12 dimensões fechadas + 3 abertas. A análise compara os 4 primeiros respondentes da primeira validação com os 4 últimos da nova validação.</a:t>
            </a:r>
            <a:endParaRPr lang="en-US" sz="12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0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PÚBLICO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68680" cy="32004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mnt/data/ppt_assets/up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648" y="329184"/>
            <a:ext cx="804672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F6A"/>
                </a:solidFill>
              </a:rPr>
              <a:t>Equipe ObiOne · Doutorado PPGEC · UPE/POLI · Junho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Perfil dos participantes por rodada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21208" y="157276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Comparativo entre a primeira validação e a nova validação após testes iniciais.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F6A"/>
                </a:solidFill>
              </a:rPr>
              <a:t>5 / 12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14884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7DBE2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41832" y="2276856"/>
            <a:ext cx="1728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4 + 4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41832" y="2715768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participantes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41832" y="2990088"/>
            <a:ext cx="1728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mês anterior + atual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154680" y="214884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7DBE2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19272" y="2276856"/>
            <a:ext cx="1728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7 consultores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3319272" y="2715768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1 gestor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319272" y="2990088"/>
            <a:ext cx="1728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perfil total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532120" y="214884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7DBE2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696712" y="2276856"/>
            <a:ext cx="1728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Trello + Planilhas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5696712" y="2715768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principais ferramentas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696712" y="2990088"/>
            <a:ext cx="1728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4 Trello | 3 Planilhas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909560" y="214884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7DBE2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8074152" y="2276856"/>
            <a:ext cx="1728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Médio predominante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074152" y="2715768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familiaridade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074152" y="2990088"/>
            <a:ext cx="1728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5 médio | 2 alto | 1 baixo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77240" y="4069080"/>
            <a:ext cx="9235440" cy="1097280"/>
          </a:xfrm>
          <a:prstGeom prst="rect">
            <a:avLst/>
          </a:prstGeom>
          <a:solidFill>
            <a:srgbClr val="F3F5F8"/>
          </a:solidFill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005840" y="4279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D6D"/>
                </a:solidFill>
              </a:rPr>
              <a:t>Leitura metodológica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3383280" y="427024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t>A nova rodada ampliou a diversidade do piloto: entrou 1 administrador/gestor e mais usuários de planilhas. A leitura continua exploratória, mas já permite comparar sinais entre ciclos.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0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INICIAIS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68680" cy="32004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mnt/data/ppt_assets/up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648" y="329184"/>
            <a:ext cx="804672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F6A"/>
                </a:solidFill>
              </a:rPr>
              <a:t>Equipe ObiOne · Doutorado PPGEC · UPE/POLI · Junho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Sinal geral da validação comparativa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21208" y="157276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O mês atual manteve percepção positiva, mas com queda frente ao ciclo anterior.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F6A"/>
                </a:solidFill>
              </a:rPr>
              <a:t>6 / 12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14884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7DBE2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41832" y="2276856"/>
            <a:ext cx="191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4,5 → 4,1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41832" y="2715768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média geral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41832" y="2990088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mês anterior vs atual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83280" y="214884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7DBE2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547872" y="2276856"/>
            <a:ext cx="191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44/48 → 36/48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3547872" y="2715768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respostas positivas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547872" y="2990088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notas 4 ou 5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89320" y="214884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7DBE2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153912" y="2276856"/>
            <a:ext cx="191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29/48 → 19/48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153912" y="2715768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notas máximas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153912" y="2990088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concordo totalmente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8595360" y="214884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7DBE2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8759952" y="2276856"/>
            <a:ext cx="191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4,3 / 5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59952" y="2715768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média acumulada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759952" y="2990088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8 participantes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41605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E3D6D"/>
                </a:solidFill>
              </a:rPr>
              <a:t>Atenção</a:t>
            </a:r>
            <a:r>
              <a:rPr lang="en-US" sz="1600" b="1" dirty="0">
                <a:solidFill>
                  <a:srgbClr val="1E3D6D"/>
                </a:solidFill>
              </a:rPr>
              <a:t>: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22960" y="4617720"/>
            <a:ext cx="9966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t>O MVP segue com aceitação positiva no acumulado, mas a nova rodada trouxe uma leitura mais crítica: média 4,1/5, 75% de respostas positivas e menor volume de notas máximas. O principal foco agora é reduzir dúvidas de navegação, explicação das funcionalidades e clareza de uso.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0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INICIAIS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68680" cy="32004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mnt/data/ppt_assets/up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648" y="329184"/>
            <a:ext cx="804672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F6A"/>
                </a:solidFill>
              </a:rPr>
              <a:t>Equipe ObiOne · Doutorado PPGEC · UPE/POLI · Junho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E3D6D"/>
                </a:solidFill>
              </a:rPr>
              <a:t>Resultados por dimensão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21208" y="1481328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600">
                <a:solidFill>
                  <a:srgbClr val="000000"/>
                </a:solidFill>
              </a:rPr>
              <a:t>Comparativo por dimensão (escala 1–5)</a:t>
            </a:r>
          </a:p>
        </p:txBody>
      </p:sp>
      <p:sp>
        <p:nvSpPr>
          <p:cNvPr id="8" name="Text 5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F6A"/>
                </a:solidFill>
              </a:rPr>
              <a:t>7 / 12</a:t>
            </a:r>
            <a:endParaRPr lang="en-US" sz="8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1783080"/>
          <a:ext cx="44348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68680"/>
                <a:gridCol w="868680"/>
                <a:gridCol w="685800"/>
              </a:tblGrid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Dimensão</a:t>
                      </a:r>
                    </a:p>
                  </a:txBody>
                  <a:tcPr>
                    <a:solidFill>
                      <a:srgbClr val="1F3C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Anterior</a:t>
                      </a:r>
                    </a:p>
                  </a:txBody>
                  <a:tcPr>
                    <a:solidFill>
                      <a:srgbClr val="1F3C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Atual</a:t>
                      </a:r>
                    </a:p>
                  </a:txBody>
                  <a:tcPr>
                    <a:solidFill>
                      <a:srgbClr val="1F3C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1F3C71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C71"/>
                          </a:solidFill>
                        </a:rPr>
                        <a:t>Clareza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5A5E69"/>
                          </a:solidFill>
                        </a:rPr>
                        <a:t>3,8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3C71"/>
                          </a:solidFill>
                        </a:rPr>
                        <a:t>3,8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5A5E69"/>
                          </a:solidFill>
                        </a:rPr>
                        <a:t>0,0</a:t>
                      </a:r>
                    </a:p>
                  </a:txBody>
                  <a:tcPr>
                    <a:solidFill>
                      <a:srgbClr val="EBF9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C71"/>
                          </a:solidFill>
                        </a:rPr>
                        <a:t>Organização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5A5E69"/>
                          </a:solidFill>
                        </a:rPr>
                        <a:t>4,8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3C71"/>
                          </a:solidFill>
                        </a:rPr>
                        <a:t>4,0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5A5E69"/>
                          </a:solidFill>
                        </a:rPr>
                        <a:t>-0,8</a:t>
                      </a:r>
                    </a:p>
                  </a:txBody>
                  <a:tcPr>
                    <a:solidFill>
                      <a:srgbClr val="FCF5E6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C71"/>
                          </a:solidFill>
                        </a:rPr>
                        <a:t>Usabilidade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5A5E69"/>
                          </a:solidFill>
                        </a:rPr>
                        <a:t>4,5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3C71"/>
                          </a:solidFill>
                        </a:rPr>
                        <a:t>4,5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5A5E69"/>
                          </a:solidFill>
                        </a:rPr>
                        <a:t>0,0</a:t>
                      </a:r>
                    </a:p>
                  </a:txBody>
                  <a:tcPr>
                    <a:solidFill>
                      <a:srgbClr val="EBF9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C71"/>
                          </a:solidFill>
                        </a:rPr>
                        <a:t>Conteúdo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5A5E69"/>
                          </a:solidFill>
                        </a:rPr>
                        <a:t>4,8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3C71"/>
                          </a:solidFill>
                        </a:rPr>
                        <a:t>4,8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5A5E69"/>
                          </a:solidFill>
                        </a:rPr>
                        <a:t>0,0</a:t>
                      </a:r>
                    </a:p>
                  </a:txBody>
                  <a:tcPr>
                    <a:solidFill>
                      <a:srgbClr val="EBF9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C71"/>
                          </a:solidFill>
                        </a:rPr>
                        <a:t>Diferenciação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5A5E69"/>
                          </a:solidFill>
                        </a:rPr>
                        <a:t>4,2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3C71"/>
                          </a:solidFill>
                        </a:rPr>
                        <a:t>3,8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5A5E69"/>
                          </a:solidFill>
                        </a:rPr>
                        <a:t>-0,5</a:t>
                      </a:r>
                    </a:p>
                  </a:txBody>
                  <a:tcPr>
                    <a:solidFill>
                      <a:srgbClr val="FCF5E6"/>
                    </a:solidFill>
                  </a:tcPr>
                </a:tc>
              </a:tr>
              <a:tr h="35923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C71"/>
                          </a:solidFill>
                        </a:rPr>
                        <a:t>Ciclo conhecimento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5A5E69"/>
                          </a:solidFill>
                        </a:rPr>
                        <a:t>4,0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3C71"/>
                          </a:solidFill>
                        </a:rPr>
                        <a:t>4,2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5A5E69"/>
                          </a:solidFill>
                        </a:rPr>
                        <a:t>+0,2</a:t>
                      </a:r>
                    </a:p>
                  </a:txBody>
                  <a:tcPr>
                    <a:solidFill>
                      <a:srgbClr val="EBF9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55080" y="1783080"/>
          <a:ext cx="44348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68680"/>
                <a:gridCol w="868680"/>
                <a:gridCol w="685800"/>
              </a:tblGrid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Dimensão</a:t>
                      </a:r>
                    </a:p>
                  </a:txBody>
                  <a:tcPr>
                    <a:solidFill>
                      <a:srgbClr val="1F3C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Anterior</a:t>
                      </a:r>
                    </a:p>
                  </a:txBody>
                  <a:tcPr>
                    <a:solidFill>
                      <a:srgbClr val="1F3C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Atual</a:t>
                      </a:r>
                    </a:p>
                  </a:txBody>
                  <a:tcPr>
                    <a:solidFill>
                      <a:srgbClr val="1F3C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1F3C71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C71"/>
                          </a:solidFill>
                        </a:rPr>
                        <a:t>Comunidade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5A5E69"/>
                          </a:solidFill>
                        </a:rPr>
                        <a:t>4,8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3C71"/>
                          </a:solidFill>
                        </a:rPr>
                        <a:t>4,2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5A5E69"/>
                          </a:solidFill>
                        </a:rPr>
                        <a:t>-0,5</a:t>
                      </a:r>
                    </a:p>
                  </a:txBody>
                  <a:tcPr>
                    <a:solidFill>
                      <a:srgbClr val="FCF5E6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C71"/>
                          </a:solidFill>
                        </a:rPr>
                        <a:t>Aprendizados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5A5E69"/>
                          </a:solidFill>
                        </a:rPr>
                        <a:t>5,0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3C71"/>
                          </a:solidFill>
                        </a:rPr>
                        <a:t>4,2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5A5E69"/>
                          </a:solidFill>
                        </a:rPr>
                        <a:t>-0,8</a:t>
                      </a:r>
                    </a:p>
                  </a:txBody>
                  <a:tcPr>
                    <a:solidFill>
                      <a:srgbClr val="FCF5E6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C71"/>
                          </a:solidFill>
                        </a:rPr>
                        <a:t>IA assistiva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5A5E69"/>
                          </a:solidFill>
                        </a:rPr>
                        <a:t>4,5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3C71"/>
                          </a:solidFill>
                        </a:rPr>
                        <a:t>4,0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5A5E69"/>
                          </a:solidFill>
                        </a:rPr>
                        <a:t>-0,5</a:t>
                      </a:r>
                    </a:p>
                  </a:txBody>
                  <a:tcPr>
                    <a:solidFill>
                      <a:srgbClr val="FCF5E6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C71"/>
                          </a:solidFill>
                        </a:rPr>
                        <a:t>Portfólio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5A5E69"/>
                          </a:solidFill>
                        </a:rPr>
                        <a:t>4,2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3C71"/>
                          </a:solidFill>
                        </a:rPr>
                        <a:t>4,2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5A5E69"/>
                          </a:solidFill>
                        </a:rPr>
                        <a:t>0,0</a:t>
                      </a:r>
                    </a:p>
                  </a:txBody>
                  <a:tcPr>
                    <a:solidFill>
                      <a:srgbClr val="EBF9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C71"/>
                          </a:solidFill>
                        </a:rPr>
                        <a:t>Governança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5A5E69"/>
                          </a:solidFill>
                        </a:rPr>
                        <a:t>5,0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3C71"/>
                          </a:solidFill>
                        </a:rPr>
                        <a:t>3,8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5A5E69"/>
                          </a:solidFill>
                        </a:rPr>
                        <a:t>-1,2</a:t>
                      </a:r>
                    </a:p>
                  </a:txBody>
                  <a:tcPr>
                    <a:solidFill>
                      <a:srgbClr val="FCF5E6"/>
                    </a:solidFill>
                  </a:tcPr>
                </a:tc>
              </a:tr>
              <a:tr h="35923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C71"/>
                          </a:solidFill>
                        </a:rPr>
                        <a:t>Intenção de uso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5A5E69"/>
                          </a:solidFill>
                        </a:rPr>
                        <a:t>4,2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3C71"/>
                          </a:solidFill>
                        </a:rPr>
                        <a:t>4,0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5A5E69"/>
                          </a:solidFill>
                        </a:rPr>
                        <a:t>-0,2</a:t>
                      </a:r>
                    </a:p>
                  </a:txBody>
                  <a:tcPr>
                    <a:solidFill>
                      <a:srgbClr val="FCF5E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22960" y="4617720"/>
            <a:ext cx="10424160" cy="822960"/>
          </a:xfrm>
          <a:prstGeom prst="rect">
            <a:avLst/>
          </a:prstGeom>
          <a:solidFill>
            <a:srgbClr val="F7F9FC"/>
          </a:solidFill>
          <a:ln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/>
          <a:lstStyle/>
          <a:p>
            <a:r>
              <a:rPr sz="1300">
                <a:solidFill>
                  <a:srgbClr val="5A5E69"/>
                </a:solidFill>
              </a:rPr>
              <a:t>Leitura executiva: o mês atual manteve médias positivas, mas ficou mais crítico em governança, organização, aprendizados e comunidade. Conteúdo, usabilidade, portfólio e clareza ficaram estáveis; ciclo de conhecimento evoluiu.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32120"/>
            <a:ext cx="10241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5A5E69"/>
                </a:solidFill>
              </a:rPr>
              <a:t>Fonte: 4 primeiros respondentes = primeira validação; 4 últimos respondentes = nova validação.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0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QUALITATIVAS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68680" cy="32004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mnt/data/ppt_assets/up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648" y="329184"/>
            <a:ext cx="804672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F6A"/>
                </a:solidFill>
              </a:rPr>
              <a:t>Equipe ObiOne · Doutorado PPGEC · UPE/POLI · Junho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O que mudou nas respostas abertas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21208" y="157276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A nova rodada reforça o valor da IA e mantém o alerta de orientação inicial.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F6A"/>
                </a:solidFill>
              </a:rPr>
              <a:t>8 / 12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822960" y="196596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051560" y="21305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FORÇA ATUAL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1560" y="235915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“O aprendizado consolidado através da IA.”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51560" y="2770632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A IA passou a aparecer como diferencial percebido.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080760" y="196596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309360" y="21305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VALOR PERCEBIDO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309360" y="235915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“Muito amigável” e “integra tecnologia e educação”.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09360" y="2770632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O produto é percebido como simples e útil para aprendizado.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22960" y="365760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FFF7E6"/>
          </a:solidFill>
          <a:ln w="12700">
            <a:solidFill>
              <a:srgbClr val="F3C56B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51560" y="38221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ALERTA RECORRENTE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1051560" y="405079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“Ficou um pouco confusa a explicação sobre algumas funcionalidades.”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62272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A clareza inicial ainda limita o primeiro uso.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080760" y="365760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309360" y="38221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MELHORIA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309360" y="405079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“Navegação mais intuitiva, instruções mais claras e interface mais simples.”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309360" y="4462272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Prioridade: onboarding, menu, botão de início/voltar e exemplos práticos.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7">
            <a:extLst>
              <a:ext uri="{FF2B5EF4-FFF2-40B4-BE49-F238E27FC236}">
                <a16:creationId xmlns:a16="http://schemas.microsoft.com/office/drawing/2014/main" id="{E4281F19-DED5-C561-43E6-D93F25F40BE4}"/>
              </a:ext>
            </a:extLst>
          </p:cNvPr>
          <p:cNvSpPr/>
          <p:nvPr/>
        </p:nvSpPr>
        <p:spPr>
          <a:xfrm>
            <a:off x="822960" y="5026871"/>
            <a:ext cx="9235440" cy="868680"/>
          </a:xfrm>
          <a:prstGeom prst="rect">
            <a:avLst/>
          </a:prstGeom>
          <a:solidFill>
            <a:srgbClr val="F3F5F8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" name="Text 0"/>
          <p:cNvSpPr/>
          <p:nvPr/>
        </p:nvSpPr>
        <p:spPr>
          <a:xfrm>
            <a:off x="457200" y="420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IMPLICAÇÕES PARA O MVP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68680" cy="32004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mnt/data/ppt_assets/up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648" y="329184"/>
            <a:ext cx="804672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F6A"/>
                </a:solidFill>
              </a:rPr>
              <a:t>Equipe ObiOne · Doutorado PPGEC · UPE/POLI · Junho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O que os resultados comparativos indicam para o produto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21208" y="157276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A PoC confirma valor, mas mostra que a experiência precisa ser mais guiada.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F6A"/>
                </a:solidFill>
              </a:rPr>
              <a:t>9 / 12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22960" y="207568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52529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344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Onboarding e vídeo curto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520440" y="2084832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Explicar o objetivo, as comunidades e as funcionalidades com exemplos práticos.</a:t>
            </a:r>
            <a:endParaRPr lang="en-US" sz="1130" dirty="0"/>
          </a:p>
        </p:txBody>
      </p:sp>
      <p:sp>
        <p:nvSpPr>
          <p:cNvPr id="12" name="Text 9"/>
          <p:cNvSpPr/>
          <p:nvPr/>
        </p:nvSpPr>
        <p:spPr>
          <a:xfrm>
            <a:off x="8823960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2529"/>
                </a:solidFill>
              </a:rPr>
              <a:t>Alta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22960" y="28346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52529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234440" y="28163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Navegação guiada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520440" y="284378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Criar menu mais evidente, botão início/voltar e fluxo em etapas.</a:t>
            </a:r>
            <a:endParaRPr lang="en-US" sz="1130" dirty="0"/>
          </a:p>
        </p:txBody>
      </p:sp>
      <p:sp>
        <p:nvSpPr>
          <p:cNvPr id="16" name="Text 13"/>
          <p:cNvSpPr/>
          <p:nvPr/>
        </p:nvSpPr>
        <p:spPr>
          <a:xfrm>
            <a:off x="8823960" y="28163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2529"/>
                </a:solidFill>
              </a:rPr>
              <a:t>Alta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2960" y="359359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52529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34440" y="357530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IA mais acionável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3520440" y="3602736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Tornar o botão de IA visível e explicar quando ela sugere aprendizados.</a:t>
            </a:r>
            <a:endParaRPr lang="en-US" sz="1130" dirty="0"/>
          </a:p>
        </p:txBody>
      </p:sp>
      <p:sp>
        <p:nvSpPr>
          <p:cNvPr id="20" name="Text 17"/>
          <p:cNvSpPr/>
          <p:nvPr/>
        </p:nvSpPr>
        <p:spPr>
          <a:xfrm>
            <a:off x="8823960" y="357530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6D"/>
                </a:solidFill>
              </a:rPr>
              <a:t>Média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22960" y="435254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52529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234440" y="433425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Governança e papéis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3520440" y="436168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Reforçar o que cada perfil enxerga e como participa no ObiOne.</a:t>
            </a:r>
            <a:endParaRPr lang="en-US" sz="1130" dirty="0"/>
          </a:p>
        </p:txBody>
      </p:sp>
      <p:sp>
        <p:nvSpPr>
          <p:cNvPr id="24" name="Text 21"/>
          <p:cNvSpPr/>
          <p:nvPr/>
        </p:nvSpPr>
        <p:spPr>
          <a:xfrm>
            <a:off x="8823960" y="433425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6D"/>
                </a:solidFill>
              </a:rPr>
              <a:t>Média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1097280" y="5276088"/>
            <a:ext cx="9090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A segunda rodada mostrou que o valor existe, mas a adoção depende de reduzir esforço de entendimento no primeiro contato.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20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68680" cy="32004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mnt/data/ppt_assets/up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648" y="329184"/>
            <a:ext cx="804672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F6A"/>
                </a:solidFill>
              </a:rPr>
              <a:t>Equipe ObiOne · Doutorado PPGEC · UPE/POLI · Junho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E3D6D"/>
                </a:solidFill>
              </a:rPr>
              <a:t>O que temos e o que falta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21208" y="157276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Síntese executiva do comparativo e próximos passos.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F6A"/>
                </a:solidFill>
              </a:rPr>
              <a:t>11 / 12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" y="2148840"/>
            <a:ext cx="886968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0">
              <a:buNone/>
            </a:pPr>
            <a:r>
              <a:t>Foram analisadas 8 respostas: 4 da primeira validação e 4 da nova validação após testes iniciais.</a:t>
            </a:r>
            <a:endParaRPr lang="en-US" sz="1400" dirty="0"/>
          </a:p>
          <a:p>
            <a:pPr marL="342900"/>
            <a:r>
              <a:t>A média geral acumulada ficou em 4,3/5, com 80 de 96 respostas positivas.</a:t>
            </a:r>
          </a:p>
          <a:p>
            <a:pPr marL="342900"/>
            <a:r>
              <a:t>O mês atual manteve aceitação positiva, mas reduziu média e notas máximas frente ao mês anterior.</a:t>
            </a:r>
          </a:p>
          <a:p>
            <a:pPr marL="342900"/>
            <a:r>
              <a:t>O próximo ajuste deve focar onboarding, navegação, explicação das funcionalidades e papel da IA.</a:t>
            </a:r>
          </a:p>
        </p:txBody>
      </p:sp>
      <p:sp>
        <p:nvSpPr>
          <p:cNvPr id="10" name="Shape 7"/>
          <p:cNvSpPr/>
          <p:nvPr/>
        </p:nvSpPr>
        <p:spPr>
          <a:xfrm>
            <a:off x="868680" y="4663440"/>
            <a:ext cx="9235440" cy="868680"/>
          </a:xfrm>
          <a:prstGeom prst="rect">
            <a:avLst/>
          </a:prstGeom>
          <a:solidFill>
            <a:srgbClr val="F3F5F8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97280" y="4882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D6D"/>
                </a:solidFill>
              </a:rPr>
              <a:t>Decisão sugerida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154680" y="488289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t>Continuar a PoC, aplicar ajustes de experiência inicial e realizar nova rodada com amostra ampliada para verificar recuperação dos indicadores.</a:t>
            </a:r>
            <a:endParaRPr lang="en-US" sz="127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750040" y="0"/>
            <a:ext cx="228600" cy="6858000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mnt/data/ppt_assets/up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457200"/>
            <a:ext cx="822960" cy="6035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25146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1E3D6D"/>
                </a:solidFill>
              </a:rPr>
              <a:t>Obrigado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685800" y="3611880"/>
            <a:ext cx="914400" cy="32004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685800" y="38221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5F6A"/>
                </a:solidFill>
              </a:rPr>
              <a:t>Discussão e perguntas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85800" y="61722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5A5F6A"/>
                </a:solidFill>
              </a:rPr>
              <a:t>Bruno Rocha · Cynthia Oliveira · Moisés Júnior · Raniel Silva · Doutorado PPGEC · UPE/POLI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A5F6A"/>
                </a:solidFill>
              </a:rPr>
              <a:t>Orientador: Prof. Ivaldir Honório de Farias Júnior · Recife, Junho 2026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Shape 7">
            <a:extLst>
              <a:ext uri="{FF2B5EF4-FFF2-40B4-BE49-F238E27FC236}">
                <a16:creationId xmlns:a16="http://schemas.microsoft.com/office/drawing/2014/main" id="{E4281F19-DED5-C561-43E6-D93F25F40BE4}"/>
              </a:ext>
            </a:extLst>
          </p:cNvPr>
          <p:cNvSpPr/>
          <p:nvPr/>
        </p:nvSpPr>
        <p:spPr>
          <a:xfrm>
            <a:off x="822960" y="5026871"/>
            <a:ext cx="9235440" cy="868680"/>
          </a:xfrm>
          <a:prstGeom prst="rect">
            <a:avLst/>
          </a:prstGeom>
          <a:solidFill>
            <a:srgbClr val="F3F5F8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" name="Text 0"/>
          <p:cNvSpPr/>
          <p:nvPr/>
        </p:nvSpPr>
        <p:spPr>
          <a:xfrm>
            <a:off x="457200" y="420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25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EM ABERTO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68680" cy="32004"/>
          </a:xfrm>
          <a:prstGeom prst="rect">
            <a:avLst/>
          </a:prstGeom>
          <a:solidFill>
            <a:srgbClr val="E52529"/>
          </a:solidFill>
          <a:ln w="12700">
            <a:solidFill>
              <a:srgbClr val="E52529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45720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F6A"/>
                </a:solidFill>
              </a:rPr>
              <a:t>Equipe ObiOne · Doutorado PPGEC · UPE/POLI · Junho 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Questões em aberto para fechar os gaps da pesquisa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21208" y="157276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Sem novas evoluções nesta etapa, estas questões orientam os trabalhos futuros.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5F6A"/>
                </a:solidFill>
              </a:rPr>
              <a:t>10 / 12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22960" y="207568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52529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34440" y="2057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Efeito do onboarding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520440" y="2084832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Medir a clareza nos mesmos usuários antes e depois, isolando a mudança de público.</a:t>
            </a:r>
            <a:endParaRPr lang="en-US" sz="1130" dirty="0"/>
          </a:p>
        </p:txBody>
      </p:sp>
      <p:sp>
        <p:nvSpPr>
          <p:cNvPr id="12" name="Text 9"/>
          <p:cNvSpPr/>
          <p:nvPr/>
        </p:nvSpPr>
        <p:spPr>
          <a:xfrm>
            <a:off x="8823960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2529"/>
                </a:solidFill>
              </a:rPr>
              <a:t>Causal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22960" y="28346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52529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234440" y="28163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Navegação guiada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520440" y="284378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Verificar se menu, fluxo em etapas e exemplos elevam a clareza acima de 3,8.</a:t>
            </a:r>
            <a:endParaRPr lang="en-US" sz="1130" dirty="0"/>
          </a:p>
        </p:txBody>
      </p:sp>
      <p:sp>
        <p:nvSpPr>
          <p:cNvPr id="16" name="Text 13"/>
          <p:cNvSpPr/>
          <p:nvPr/>
        </p:nvSpPr>
        <p:spPr>
          <a:xfrm>
            <a:off x="8823960" y="28163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2529"/>
                </a:solidFill>
              </a:rPr>
              <a:t>UX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2960" y="359359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52529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34440" y="357530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Extração e qualidade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3520440" y="3602736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Executar o protocolo do MPO: acurácia da extração e efeito da IA na qualidade dos aprendizados.</a:t>
            </a:r>
            <a:endParaRPr lang="en-US" sz="1130" dirty="0"/>
          </a:p>
        </p:txBody>
      </p:sp>
      <p:sp>
        <p:nvSpPr>
          <p:cNvPr id="20" name="Text 17"/>
          <p:cNvSpPr/>
          <p:nvPr/>
        </p:nvSpPr>
        <p:spPr>
          <a:xfrm>
            <a:off x="8823960" y="357530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6D"/>
                </a:solidFill>
              </a:rPr>
              <a:t>MPO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22960" y="435254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52529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234440" y="433425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t>Escala e governança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3520440" y="436168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Replicar em outros domínios, com N maior e uso prolongado; entender a queda em governança.</a:t>
            </a:r>
            <a:endParaRPr lang="en-US" sz="1130" dirty="0"/>
          </a:p>
        </p:txBody>
      </p:sp>
      <p:sp>
        <p:nvSpPr>
          <p:cNvPr id="24" name="Text 21"/>
          <p:cNvSpPr/>
          <p:nvPr/>
        </p:nvSpPr>
        <p:spPr>
          <a:xfrm>
            <a:off x="8823960" y="433425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6D"/>
                </a:solidFill>
              </a:rPr>
              <a:t>Escala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1097280" y="5276088"/>
            <a:ext cx="9090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t>As quatro frentes delimitam os gaps da pesquisa: o valor foi confirmado, mas restam questões de causalidade, experiência, extração e generalização.</a:t>
            </a:r>
            <a:endParaRPr lang="en-US" sz="1250" dirty="0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9648" y="329184"/>
            <a:ext cx="804672" cy="594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1025</Words>
  <Application>Microsoft Office PowerPoint</Application>
  <PresentationFormat>Widescreen</PresentationFormat>
  <Paragraphs>182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UPE/POLI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ObiOne - Validação da PoC do MVP</dc:title>
  <dc:subject>PoC MVP ObiOne</dc:subject>
  <dc:creator>Equipe ObiOne</dc:creator>
  <cp:lastModifiedBy>Cynthia Oliveira</cp:lastModifiedBy>
  <cp:revision>3</cp:revision>
  <dcterms:created xsi:type="dcterms:W3CDTF">2026-06-26T15:47:24Z</dcterms:created>
  <dcterms:modified xsi:type="dcterms:W3CDTF">2026-06-26T16:01:06Z</dcterms:modified>
</cp:coreProperties>
</file>